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8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56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87">
          <p15:clr>
            <a:srgbClr val="A4A3A4"/>
          </p15:clr>
        </p15:guide>
        <p15:guide id="2" pos="28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0279" autoAdjust="0"/>
  </p:normalViewPr>
  <p:slideViewPr>
    <p:cSldViewPr snapToGrid="0" snapToObjects="1">
      <p:cViewPr varScale="1">
        <p:scale>
          <a:sx n="75" d="100"/>
          <a:sy n="75" d="100"/>
        </p:scale>
        <p:origin x="1912" y="44"/>
      </p:cViewPr>
      <p:guideLst>
        <p:guide orient="horz" pos="1687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llama3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AG News</c:v>
                </c:pt>
                <c:pt idx="1">
                  <c:v>Civil Comments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</c:v>
                </c:pt>
                <c:pt idx="1">
                  <c:v>65.5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9-8B4B-BE01-358B450B18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 Flash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AG News</c:v>
                </c:pt>
                <c:pt idx="1">
                  <c:v>Civil Comments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92.5</c:v>
                </c:pt>
                <c:pt idx="1">
                  <c:v>69.8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9-8B4B-BE01-358B450B1839}"/>
            </c:ext>
          </c:extLst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52546952"/>
        <c:axId val="2052550968"/>
      </c:barChart>
      <c:catAx>
        <c:axId val="20525469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052550968"/>
        <c:crosses val="autoZero"/>
        <c:auto val="1"/>
        <c:lblAlgn val="ctr"/>
        <c:lblOffset val="100"/>
        <c:noMultiLvlLbl val="0"/>
      </c:catAx>
      <c:valAx>
        <c:axId val="2052550968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52546952"/>
        <c:crosses val="autoZero"/>
        <c:crossBetween val="between"/>
        <c:majorUnit val="20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Tw Cen MT"/>
          <a:cs typeface="Tw Cen M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50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20 s, not counted as a content slide</a:t>
            </a:r>
          </a:p>
          <a:p>
            <a:endParaRPr/>
          </a:p>
          <a:p>
            <a:r>
              <a:t>What this slide covers:</a:t>
            </a:r>
          </a:p>
          <a:p>
            <a:r>
              <a:t>Title and team. One sentence on who the client is and what we built, then straight into Motivation.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Introduce the group as CS-57 and the client, Arc Intelligence; do not read the member list aloud.</a:t>
            </a:r>
          </a:p>
          <a:p>
            <a:endParaRPr/>
          </a:p>
          <a:p>
            <a:r>
              <a:t>TODO:</a:t>
            </a:r>
          </a:p>
          <a:p>
            <a:r>
              <a:t>[ ] Confirm the title wording with the team</a:t>
            </a:r>
          </a:p>
          <a:p>
            <a:r>
              <a:t>[ ] Confirm the faculty / unit line against the template's instruction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not presented (information page required by the template)</a:t>
            </a:r>
          </a:p>
          <a:p>
            <a:r>
              <a:t>Time: 0 s</a:t>
            </a:r>
          </a:p>
          <a:p>
            <a:endParaRPr/>
          </a:p>
          <a:p>
            <a:r>
              <a:t>What this slide covers:</a:t>
            </a:r>
          </a:p>
          <a:p>
            <a:r>
              <a:t>Each member's full name, UniKey and roles. Each member picks their own slides; the rubric requires at least two per member. Two consecutive slides per member cut hand-offs. Target about 1 min 5 s per content slide, 17-18 min in all.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Markers read this page; it is not presented.</a:t>
            </a:r>
          </a:p>
          <a:p>
            <a:endParaRPr/>
          </a:p>
          <a:p>
            <a:r>
              <a:t>TODO:</a:t>
            </a:r>
          </a:p>
          <a:p>
            <a:r>
              <a:t>[ ] Every member: replace the UniKey placeholder with your own</a:t>
            </a:r>
          </a:p>
          <a:p>
            <a:r>
              <a:t>[ ] Every member: confirm or rewrite your role line (drafted from your allocated stories)</a:t>
            </a:r>
          </a:p>
          <a:p>
            <a:r>
              <a:t>[ ] Keep each role line to one or two lines at the current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</a:t>
            </a:r>
          </a:p>
          <a:p>
            <a:endParaRPr/>
          </a:p>
          <a:p>
            <a:r>
              <a:t>What this slide covers:</a:t>
            </a:r>
          </a:p>
          <a:p>
            <a:r>
              <a:t>The problem: annotation tools stop at the moment of labelling, so a dataset cannot be defended item by item.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Open with a story: a model trained on a label nobody can trace.</a:t>
            </a:r>
          </a:p>
          <a:p>
            <a:r>
              <a:t>- The goal is not faster annotation; it is a dataset that can be defended item by item.</a:t>
            </a:r>
          </a:p>
          <a:p>
            <a:endParaRPr/>
          </a:p>
          <a:p>
            <a:r>
              <a:t>TODO:</a:t>
            </a:r>
          </a:p>
          <a:p>
            <a:r>
              <a:t>[ ] Add one concrete example from the client's domain (e.g. a moderation label nobody can trace)</a:t>
            </a:r>
          </a:p>
          <a:p>
            <a:r>
              <a:t>[ ] Rehearse a 15-second opening hook without notes</a:t>
            </a:r>
          </a:p>
          <a:p>
            <a:r>
              <a:t>[ ] Decide whether the red key-question box stays as the slide's visual</a:t>
            </a:r>
          </a:p>
          <a:p>
            <a:endParaRPr/>
          </a:p>
          <a:p>
            <a:r>
              <a:t>Evidence: docs/specs/mission.md (opening)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</a:t>
            </a:r>
          </a:p>
          <a:p>
            <a:endParaRPr/>
          </a:p>
          <a:p>
            <a:r>
              <a:t>What this slide covers:</a:t>
            </a:r>
          </a:p>
          <a:p>
            <a:r>
              <a:t>The objective: one governed journey across six pillars, and what success means for the client.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Client: Arc Intelligence (hej, a governed human-judgement platform); we build the layer above its workflow.</a:t>
            </a:r>
          </a:p>
          <a:p>
            <a:r>
              <a:t>- Every story in the backlog serves one of these six pillars.</a:t>
            </a:r>
          </a:p>
          <a:p>
            <a:r>
              <a:t>- Success = the full journey runs on realistic data with end-to-end provenance and a gated release.</a:t>
            </a:r>
          </a:p>
          <a:p>
            <a:endParaRPr/>
          </a:p>
          <a:p>
            <a:r>
              <a:t>TODO:</a:t>
            </a:r>
          </a:p>
          <a:p>
            <a:r>
              <a:t>[ ] Check the pillar wording against docs/info/ProjectDescription.pdf</a:t>
            </a:r>
          </a:p>
          <a:p>
            <a:r>
              <a:t>[ ] End with a hand-off sentence to the next presenter</a:t>
            </a:r>
          </a:p>
          <a:p>
            <a:endParaRPr/>
          </a:p>
          <a:p>
            <a:r>
              <a:t>Evidence: docs/specs/mission.md → What We Do, What Success Looks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Related work in four areas and the gap each leaves that hej fills: workflow enforcement plus provenance, not documentation after the fact.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Position hej: we combine workflow enforcement with provenance, instead of documenting after the fact.</a:t>
            </a:r>
          </a:p>
          <a:p>
            <a:r>
              <a:t>- One sentence per row; the 'what is missing' column is the point of the slide.</a:t>
            </a:r>
          </a:p>
          <a:p>
            <a:endParaRPr/>
          </a:p>
          <a:p>
            <a:r>
              <a:t>TODO:</a:t>
            </a:r>
          </a:p>
          <a:p>
            <a:r>
              <a:t>[ ] Verify every reference (no citation from memory) and replace each [cite]</a:t>
            </a:r>
          </a:p>
          <a:p>
            <a:r>
              <a:t>[ ] Add full citations to the References slide in the appendix</a:t>
            </a:r>
          </a:p>
          <a:p>
            <a:r>
              <a:t>[ ] Keep the table to at most five rows; cut a row rather than shrink the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</a:t>
            </a:r>
          </a:p>
          <a:p>
            <a:endParaRPr/>
          </a:p>
          <a:p>
            <a:r>
              <a:t>What this slide covers:</a:t>
            </a:r>
          </a:p>
          <a:p>
            <a:r>
              <a:t>Where we started: the inherited hej platform, its defects, the backlog we agreed, and the stack we extend rather than replace.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We did not start from zero: hej already annotated, but could not defend its output.</a:t>
            </a:r>
          </a:p>
          <a:p>
            <a:r>
              <a:t>- Fixing the 6 Critical defects was a precondition for any provenance claim.</a:t>
            </a:r>
          </a:p>
          <a:p>
            <a:r>
              <a:t>- One sentence on why PostgreSQL is the default — the client asked us to justify it (status check 2).</a:t>
            </a:r>
          </a:p>
          <a:p>
            <a:endParaRPr/>
          </a:p>
          <a:p>
            <a:r>
              <a:t>TODO:</a:t>
            </a:r>
          </a:p>
          <a:p>
            <a:r>
              <a:t>[ ] Re-check 30 / 6 / 63 / 7 against issues.md, story_src.csv and the sprint calendar on the final date</a:t>
            </a:r>
          </a:p>
          <a:p>
            <a:r>
              <a:t>[ ] Write the one-sentence PostgreSQL justification</a:t>
            </a:r>
          </a:p>
          <a:p>
            <a:r>
              <a:t>[ ] End with a hand-off sentence to the next presenter</a:t>
            </a:r>
          </a:p>
          <a:p>
            <a:endParaRPr/>
          </a:p>
          <a:p>
            <a:r>
              <a:t>Evidence: docs/info/issues.md; docs/specs/tech-stack.md → 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/>
          <a:p>
            <a:r>
              <a:t>What this slide covers:</a:t>
            </a:r>
          </a:p>
          <a:p>
            <a:r>
              <a:t>The system architecture: the browser holds no rule, the API checks every action, the services apply the workflow, and the database keeps every version; the evaluation harness and the AI worker sit beside that core.</a:t>
            </a:r>
          </a:p>
          <a:p/>
          <a:p>
            <a:r>
              <a:t>Talking points (speak to them, do not read):</a:t>
            </a:r>
          </a:p>
          <a:p>
            <a:r>
              <a:t>- Follow one action left to right: the screen asks, the API checks the capability, a service applies the rule, the database keeps the version.</a:t>
            </a:r>
          </a:p>
          <a:p>
            <a:r>
              <a:t>- Why the rules live in the API: a hidden button is not a permission. The evaluation harness logs in and calls the same routes as a person, so a passing case proves the real checks.</a:t>
            </a:r>
          </a:p>
          <a:p>
            <a:r>
              <a:t>- Why a separate AI worker: a slow or failing model call never holds a database transaction, and a killed worker's item returns to the queue when its lease expires.</a:t>
            </a:r>
          </a:p>
          <a:p>
            <a:r>
              <a:t>- Every decision attaches to one task item (organisation &gt; project &gt; task &gt; task item); that is what makes per-item provenance possible.</a:t>
            </a:r>
          </a:p>
          <a:p>
            <a:r>
              <a:t>- PostgreSQL is the default for concurrent multi-user and batch work; SQLite stays for fast local development, and CI runs both.</a:t>
            </a:r>
          </a:p>
          <a:p/>
          <a:p>
            <a:r>
              <a:t>TODO:</a:t>
            </a:r>
          </a:p>
          <a:p>
            <a:r>
              <a:t>[ ] Prepare one example of a capability check refusing an action (for Q&amp;A)</a:t>
            </a:r>
          </a:p>
          <a:p>
            <a:r>
              <a:t>[ ] End with a hand-off sentence to the next presenter</a:t>
            </a:r>
          </a:p>
          <a:p/>
          <a:p>
            <a:r>
              <a:t>Evidence: apps/hej-api/app/core/permissions.py; app/worker.py; provenance triggers in app/models/db_models.py; ADR 006, ADR 009; docs/specs/tech-stack.md &gt;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</a:t>
            </a:r>
          </a:p>
          <a:p>
            <a:endParaRPr/>
          </a:p>
          <a:p>
            <a:r>
              <a:t>What this slide covers:</a:t>
            </a:r>
          </a:p>
          <a:p>
            <a:r>
              <a:t>The end-to-end journey of one item, from project setup to release, with every step recorded.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Walk one item through the journey; the next three slides zoom into AI assist, independence and release.</a:t>
            </a:r>
          </a:p>
          <a:p>
            <a:r>
              <a:t>- No assignment: work is self-served from role-checked queues (client decision, 17 Sep).</a:t>
            </a:r>
          </a:p>
          <a:p>
            <a:endParaRPr/>
          </a:p>
          <a:p>
            <a:r>
              <a:t>TODO:</a:t>
            </a:r>
          </a:p>
          <a:p>
            <a:r>
              <a:t>[ ] Confirm each step name matches a screen or endpoint in the app</a:t>
            </a:r>
          </a:p>
          <a:p>
            <a:r>
              <a:t>[ ] Pick the one item you will 'walk through' and keep it consistent with the results screenshot</a:t>
            </a:r>
          </a:p>
          <a:p>
            <a:r>
              <a:t>[ ] End with a hand-off sentence to the next presenter</a:t>
            </a:r>
          </a:p>
          <a:p>
            <a:endParaRPr/>
          </a:p>
          <a:p>
            <a:r>
              <a:t>Evidence: docs/specs/mission.md → What Success Looks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How AI assists: one typed interface for every provider, failures recorded as failures, the two production modes and blind-then-reveal as an evaluation protocol.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Why a typed interface: the client must be able to swap models without touching the workflow.</a:t>
            </a:r>
          </a:p>
          <a:p>
            <a:r>
              <a:t>- Why blind-then-reveal: measure anchoring by keeping the pre-reveal judgement, the AI suggestion and the final judgement as separate stages.</a:t>
            </a:r>
          </a:p>
          <a:p>
            <a:endParaRPr/>
          </a:p>
          <a:p>
            <a:r>
              <a:t>TODO:</a:t>
            </a:r>
          </a:p>
          <a:p>
            <a:r>
              <a:t>[ ] Confirm the provider list against app/core/config.py on the final main</a:t>
            </a:r>
          </a:p>
          <a:p>
            <a:r>
              <a:t>[ ] Credit the background worker (Michael, C2) and the blind-then-reveal build (SCRUM-73) in one phrase</a:t>
            </a:r>
          </a:p>
          <a:p>
            <a:r>
              <a:t>[ ] Prepare the answer to 'what happens when the model call fails?'</a:t>
            </a:r>
          </a:p>
          <a:p>
            <a:endParaRPr/>
          </a:p>
          <a:p>
            <a:r>
              <a:t>Evidence: ADR 016; apps/hej-api/app/integrations/analyzers/base.py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Independent judgement: the independence guards, a correction as a proposal, the expert's final decision, and the four governance postures a project chooses.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Independence is a property of the queue query, because there is no assignee to encode it.</a:t>
            </a:r>
          </a:p>
          <a:p>
            <a:r>
              <a:t>- The posture is the project's assurance level; it decides who may close a disagreement.</a:t>
            </a:r>
          </a:p>
          <a:p>
            <a:r>
              <a:t>- Client R2-8: dual sign-off says how ordinary agreement is established; arbitration-ready says what must happen when it fails.</a:t>
            </a:r>
          </a:p>
          <a:p>
            <a:r>
              <a:t>- Under Standard and Dual sign-off a held split may be settled by an independent reviewer; Arbitration-ready and the Expert Gate always go to an expert (ADR 022).</a:t>
            </a:r>
          </a:p>
          <a:p>
            <a:endParaRPr/>
          </a:p>
          <a:p>
            <a:r>
              <a:t>TODO:</a:t>
            </a:r>
          </a:p>
          <a:p>
            <a:r>
              <a:t>[ ] Check the posture names match the labels in the UI</a:t>
            </a:r>
          </a:p>
          <a:p>
            <a:r>
              <a:t>[ ] Prepare one example of a refused action (403) for Q&amp;A</a:t>
            </a:r>
          </a:p>
          <a:p>
            <a:r>
              <a:t>[ ] Confirm the four posture cards against project_policy_templates.py on the final main (approvals, cross-review %)</a:t>
            </a:r>
          </a:p>
          <a:p>
            <a:r>
              <a:t>[ ] End with a hand-off sentence to the next presenter</a:t>
            </a:r>
          </a:p>
          <a:p>
            <a:endParaRPr/>
          </a:p>
          <a:p>
            <a:r>
              <a:t>Evidence: ADR 010, 011, 012, 017, 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Provenance and release: every write is a version, the gate refuses before a release exists, the release is immutable, and its manifest lets anyone check it.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Why gate before the release exists: a refused release leaves nothing half-published.</a:t>
            </a:r>
          </a:p>
          <a:p>
            <a:r>
              <a:t>- Team design (ADR 020): a superseded guideline gives a warning, not a refusal; pre-provenance work is exempt.</a:t>
            </a:r>
          </a:p>
          <a:p>
            <a:endParaRPr/>
          </a:p>
          <a:p>
            <a:r>
              <a:t>TODO:</a:t>
            </a:r>
          </a:p>
          <a:p>
            <a:r>
              <a:t>[ ] Check the gate's refusal list against ADR 020 and the final code</a:t>
            </a:r>
          </a:p>
          <a:p>
            <a:r>
              <a:t>[ ] Optional: a screenshot of a refused release with its reason</a:t>
            </a:r>
          </a:p>
          <a:p>
            <a:r>
              <a:t>[ ] Prepare the answer to 'how would an outsider check a release?' (manifest + I5 verify)</a:t>
            </a:r>
          </a:p>
          <a:p>
            <a:endParaRPr/>
          </a:p>
          <a:p>
            <a:r>
              <a:t>Evidence: ADR 009, 018, 020, 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The first result: the full journey runs on realistic data, shown through one released item and its history.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Show, don't tell: one picture of a released item and its full history.</a:t>
            </a:r>
          </a:p>
          <a:p>
            <a:r>
              <a:t>- Use the same item walked through on the journey slide.</a:t>
            </a:r>
          </a:p>
          <a:p>
            <a:endParaRPr/>
          </a:p>
          <a:p>
            <a:r>
              <a:t>TODO:</a:t>
            </a:r>
          </a:p>
          <a:p>
            <a:r>
              <a:t>[ ] Insert the screenshot of a released item's history graph (screens by Yi, F5/H6) into the picture slot</a:t>
            </a:r>
          </a:p>
          <a:p>
            <a:r>
              <a:t>[ ] Decide screenshot vs a short recording (≤45 s); a live demo is not recommended for timing</a:t>
            </a:r>
          </a:p>
          <a:p>
            <a:r>
              <a:t>[ ] Fill the item count, the date the journey was completed and the number of releases</a:t>
            </a:r>
          </a:p>
          <a:p>
            <a:r>
              <a:t>[ ] Replace '[TBD: one more result line]' or delete it</a:t>
            </a:r>
          </a:p>
          <a:p>
            <a:r>
              <a:t>[ ] End with a hand-off sentence to the next presenter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/>
          <a:p>
            <a:r>
              <a:t>What this slide covers:</a:t>
            </a:r>
          </a:p>
          <a:p>
            <a:r>
              <a:t>The evaluation casebook: how many end-to-end cases, how many pass, adversarial coverage and defects closed, all repeatable against a committed baseline.</a:t>
            </a:r>
          </a:p>
          <a:p/>
          <a:p>
            <a:r>
              <a:t>Talking points (speak to them, do not read):</a:t>
            </a:r>
          </a:p>
          <a:p>
            <a:r>
              <a:t>- Why the harness drives the API: it tests what a user can actually do, with real roles.</a:t>
            </a:r>
          </a:p>
          <a:p>
            <a:r>
              <a:t>- 8 of 9: every adversarial category has a case; the ninth (a changed source, EV-018) is written but skipped until source versioning exists. Say so before you are asked.</a:t>
            </a:r>
          </a:p>
          <a:p>
            <a:r>
              <a:t>- 30/30: defect 4, the last Critical (a finalised item exporting conflicting answers), is closed by H4 and pinned by EV-068 and EV-069.</a:t>
            </a:r>
          </a:p>
          <a:p>
            <a:r>
              <a:t>- The integrity cases (EV-116 to EV-123) tamper with the database behind the API's back, and the verifier finds every change.</a:t>
            </a:r>
          </a:p>
          <a:p/>
          <a:p>
            <a:r>
              <a:t>TODO:</a:t>
            </a:r>
          </a:p>
          <a:p>
            <a:r>
              <a:t>[ ] After 28 Oct, re-run on the frozen main commit; update the four cards and the caption if they change</a:t>
            </a:r>
          </a:p>
          <a:p/>
          <a:p>
            <a:r>
              <a:t>Evidence: `uv run python -m evaluation run --baseline evaluation/baseline.json --exact` and `list --coverage` on main fd35571 (22 Oct 2026): 85/85 passed, 1 skipped, 86 unchanged, 16 of 16 owed protections covered; ADR 006; docs/evaluation-findings.md (PR #92)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/>
          <a:p>
            <a:r>
              <a:t>What this slide covers:</a:t>
            </a:r>
          </a:p>
          <a:p>
            <a:r>
              <a:t>AI quality against gold labels: two models on two datasets, with accuracy and calibration shown together rather than as one score.</a:t>
            </a:r>
          </a:p>
          <a:p/>
          <a:p>
            <a:r>
              <a:t>Talking points (speak to them, do not read):</a:t>
            </a:r>
          </a:p>
          <a:p>
            <a:r>
              <a:t>- The point is the third bullet: both models miss most toxic comments while sounding sure, so on Civil Comments a model's confidence is no reason to skip a person's review.</a:t>
            </a:r>
          </a:p>
          <a:p>
            <a:r>
              <a:t>- Same recorded replies give the same figures every time; a new recording is a new file.</a:t>
            </a:r>
          </a:p>
          <a:p>
            <a:r>
              <a:t>- If asked about llama3's calibration: it only states 0.8, 0.9 or 1.0, so its five-bin ECE on AG News (0.008) flatters it; by stated value it is 0.043, close to DeepSeek Flash's 0.040.</a:t>
            </a:r>
          </a:p>
          <a:p>
            <a:r>
              <a:t>- If asked whether anyone can reproduce this: the full runs read gold labels from the client's package, which is never committed; a 56-record committed subset replays the whole pipeline from a fresh clone, with different figures by design.</a:t>
            </a:r>
          </a:p>
          <a:p/>
          <a:p>
            <a:r>
              <a:t>TODO:</a:t>
            </a:r>
          </a:p>
          <a:p>
            <a:r>
              <a:t>[ ] End with a hand-off sentence to the next presenter</a:t>
            </a:r>
          </a:p>
          <a:p/>
          <a:p>
            <a:r>
              <a:t>Evidence: ADR 019 (decision 6 and findings) on main; docs/evaluation-findings.md section 3.2 (PR #92)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What the evidence supports and what it does not: the negative results, reported rather than hidden, and what they mean for the client.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Insight over description: say what each negative result means for a client deciding when to trust AI.</a:t>
            </a:r>
          </a:p>
          <a:p>
            <a:r>
              <a:t>- Consequence: review effort belongs where the model is most confident and least right.</a:t>
            </a:r>
          </a:p>
          <a:p>
            <a:endParaRPr/>
          </a:p>
          <a:p>
            <a:r>
              <a:t>TODO:</a:t>
            </a:r>
          </a:p>
          <a:p>
            <a:r>
              <a:t>[ ] Fill the figures from docs/evaluation-findings.md §4 (recall on the hard class, ECE)</a:t>
            </a:r>
          </a:p>
          <a:p>
            <a:r>
              <a:t>[ ] Replace the '[TBD]' bullet under Supported with a third verified claim</a:t>
            </a:r>
          </a:p>
          <a:p>
            <a:r>
              <a:t>[ ] Prepare the answer to 'so should the client trust the model?'</a:t>
            </a:r>
          </a:p>
          <a:p>
            <a:endParaRPr/>
          </a:p>
          <a:p>
            <a:r>
              <a:t>Evidence: docs/evaluation-findings.md §4 (PR #92)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Design decisions and their costs: each row is a decision, why we made it, and what it cost.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Each row is a defendable decision; be ready for 'why not the alternative?'.</a:t>
            </a:r>
          </a:p>
          <a:p>
            <a:r>
              <a:t>- The client asked us to justify the PostgreSQL choice explicitly (status check 2).</a:t>
            </a:r>
          </a:p>
          <a:p>
            <a:endParaRPr/>
          </a:p>
          <a:p>
            <a:r>
              <a:t>TODO:</a:t>
            </a:r>
          </a:p>
          <a:p>
            <a:r>
              <a:t>[ ] Confirm each row with its owner: PostgreSQL (Parth), admin/permission model (Yi, Jingwei), correction as proposal (Dishank)</a:t>
            </a:r>
          </a:p>
          <a:p>
            <a:r>
              <a:t>[ ] Keep five rows at most</a:t>
            </a:r>
          </a:p>
          <a:p>
            <a:r>
              <a:t>[ ] End with a hand-off sentence to the next presenter</a:t>
            </a:r>
          </a:p>
          <a:p>
            <a:endParaRPr/>
          </a:p>
          <a:p>
            <a:r>
              <a:t>Evidence: docs/specs/mission.md → Non-Goals; ADR 012; permission model of 20 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The conclusion: each expected outcome of the brief, its status and the evidence for it, closing the loop with the opening question.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Close the loop: return to the opening question, 'How did this label get here?'.</a:t>
            </a:r>
          </a:p>
          <a:p>
            <a:r>
              <a:t>- Be honest: a partial outcome is reported as partial.</a:t>
            </a:r>
          </a:p>
          <a:p>
            <a:endParaRPr/>
          </a:p>
          <a:p>
            <a:r>
              <a:t>TODO:</a:t>
            </a:r>
          </a:p>
          <a:p>
            <a:r>
              <a:t>[ ] Fill Status and Evidence for every row from main after 28 Oct</a:t>
            </a:r>
          </a:p>
          <a:p>
            <a:r>
              <a:t>[ ] Use the same frozen commit as the results slides</a:t>
            </a:r>
          </a:p>
          <a:p>
            <a:endParaRPr/>
          </a:p>
          <a:p>
            <a:r>
              <a:t>Evidence: docs/specs/mission.md → What Success Looks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[TBD - chosen by the team]</a:t>
            </a:r>
          </a:p>
          <a:p>
            <a:r>
              <a:t>Time: about 1 min 10 s</a:t>
            </a:r>
          </a:p>
          <a:p>
            <a:endParaRPr/>
          </a:p>
          <a:p>
            <a:r>
              <a:t>What this slide covers:</a:t>
            </a:r>
          </a:p>
          <a:p>
            <a:r>
              <a:t>Reflection on how we worked: what worked, what we would change, each with a cause and a fix.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Be honest and specific; markers reward reflection that names a cause and a fix.</a:t>
            </a:r>
          </a:p>
          <a:p>
            <a:r>
              <a:t>- Example: CI was blocked by billing for four days (16–20 Oct); we ran both databases locally before every review.</a:t>
            </a:r>
          </a:p>
          <a:p>
            <a:endParaRPr/>
          </a:p>
          <a:p>
            <a:r>
              <a:t>TODO:</a:t>
            </a:r>
          </a:p>
          <a:p>
            <a:r>
              <a:t>[ ] Collect one lesson from every member; choose the three strongest for the slide</a:t>
            </a:r>
          </a:p>
          <a:p>
            <a:r>
              <a:t>[ ] Replace '[TBD: one lesson per member]'</a:t>
            </a:r>
          </a:p>
          <a:p>
            <a:r>
              <a:t>[ ] Last sentence: thank the client and invite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not presented</a:t>
            </a:r>
          </a:p>
          <a:p>
            <a:r>
              <a:t>Time: 0 s</a:t>
            </a:r>
          </a:p>
          <a:p>
            <a:endParaRPr/>
          </a:p>
          <a:p>
            <a:r>
              <a:t>What this slide covers:</a:t>
            </a:r>
          </a:p>
          <a:p>
            <a:r>
              <a:t>Divider for the extra slides; they sit outside the 16-page limit.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Use these slides only when a question needs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not presented</a:t>
            </a:r>
          </a:p>
          <a:p>
            <a:r>
              <a:t>Time: 0 s</a:t>
            </a:r>
          </a:p>
          <a:p>
            <a:endParaRPr/>
          </a:p>
          <a:p>
            <a:r>
              <a:t>What this slide covers:</a:t>
            </a:r>
          </a:p>
          <a:p>
            <a:r>
              <a:t>Full references for the Related work slide.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Every reference on the Related work slide must appear here.</a:t>
            </a:r>
          </a:p>
          <a:p>
            <a:endParaRPr/>
          </a:p>
          <a:p>
            <a:r>
              <a:t>TODO:</a:t>
            </a:r>
          </a:p>
          <a:p>
            <a:r>
              <a:t>[ ] Add each verified citation in one consistent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not presented</a:t>
            </a:r>
          </a:p>
          <a:p>
            <a:r>
              <a:t>Time: 0 s</a:t>
            </a:r>
          </a:p>
          <a:p>
            <a:endParaRPr/>
          </a:p>
          <a:p>
            <a:r>
              <a:t>What this slide covers:</a:t>
            </a:r>
          </a:p>
          <a:p>
            <a:r>
              <a:t>Index of the 22 architecture decision records, as backup for 'why did you decide X?' questions.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Files are in hej/docs/adr/.</a:t>
            </a:r>
          </a:p>
          <a:p>
            <a:endParaRPr/>
          </a:p>
          <a:p>
            <a:r>
              <a:t>TODO:</a:t>
            </a:r>
          </a:p>
          <a:p>
            <a:r>
              <a:t>[ ] Add any ADR merged after 22 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Presenter: not presented</a:t>
            </a:r>
          </a:p>
          <a:p>
            <a:r>
              <a:t>Time: 0 s</a:t>
            </a:r>
          </a:p>
          <a:p>
            <a:endParaRPr/>
          </a:p>
          <a:p>
            <a:r>
              <a:t>What this slide covers:</a:t>
            </a:r>
          </a:p>
          <a:p>
            <a:r>
              <a:t>Backup material for likely questions.</a:t>
            </a:r>
          </a:p>
          <a:p>
            <a:endParaRPr/>
          </a:p>
          <a:p>
            <a:r>
              <a:t>Talking points (speak to them, do not read):</a:t>
            </a:r>
          </a:p>
          <a:p>
            <a:r>
              <a:t>- Every member must be able to answer on the whole project; the marker picks who answers.</a:t>
            </a:r>
          </a:p>
          <a:p>
            <a:endParaRPr/>
          </a:p>
          <a:p>
            <a:r>
              <a:t>TODO:</a:t>
            </a:r>
          </a:p>
          <a:p>
            <a:r>
              <a:t>[ ] One backup slide per likely area: defect register status, permission model, casebook coverage</a:t>
            </a:r>
          </a:p>
          <a:p>
            <a:r>
              <a:t>[ ] Hanchen: circulate the Q&amp;A question bank and run one mock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1 (add own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587876" y="0"/>
            <a:ext cx="4556125" cy="5143500"/>
          </a:xfrm>
          <a:solidFill>
            <a:schemeClr val="bg1">
              <a:lumMod val="8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11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 descr="269F7152-Edit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9" r="20655"/>
          <a:stretch/>
        </p:blipFill>
        <p:spPr>
          <a:xfrm>
            <a:off x="4579682" y="0"/>
            <a:ext cx="4564318" cy="5165567"/>
          </a:xfrm>
          <a:prstGeom prst="rect">
            <a:avLst/>
          </a:prstGeom>
        </p:spPr>
      </p:pic>
      <p:sp>
        <p:nvSpPr>
          <p:cNvPr id="12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698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6" descr="Cropped images_Widescreen_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271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6" descr="Cropped images_Widescreen_4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4580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2" r="28959"/>
          <a:stretch/>
        </p:blipFill>
        <p:spPr bwMode="auto">
          <a:xfrm>
            <a:off x="4530724" y="0"/>
            <a:ext cx="46132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1861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Picture 8" descr="269F8271-Edit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7" r="18811"/>
          <a:stretch/>
        </p:blipFill>
        <p:spPr>
          <a:xfrm>
            <a:off x="4560888" y="1"/>
            <a:ext cx="4583112" cy="5143500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1861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5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T Template_widescreen_background file_red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354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1 (add own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7" descr="USY_MB1_PMS_1_Colour_Standard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645169" y="313766"/>
            <a:ext cx="4035774" cy="451316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007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Cropped images_Widescreen_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5025" y="314325"/>
            <a:ext cx="4035425" cy="451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USY_MB1_PMS_1_Colour_Standard_Logo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4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Cropped images_Widescreen_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9788" y="314325"/>
            <a:ext cx="4030662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USY_MB1_PMS_1_Colour_Standard_Logo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6630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Cropped images_Widescreen_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5025" y="309563"/>
            <a:ext cx="4035425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USY_MB1_PMS_1_Colour_Standard_Logo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04526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5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7" descr="USY_MB1_PMS_1_Colour_Standard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381883" y="1290842"/>
            <a:ext cx="3965263" cy="1303630"/>
          </a:xfrm>
        </p:spPr>
        <p:txBody>
          <a:bodyPr anchor="t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3330" y="2594472"/>
            <a:ext cx="3963817" cy="63936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1898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  <a:lvl2pPr marL="742950" indent="-285750">
              <a:lnSpc>
                <a:spcPct val="90000"/>
              </a:lnSpc>
              <a:buFont typeface="Lucida Grande"/>
              <a:buChar char="–"/>
              <a:defRPr/>
            </a:lvl2pPr>
            <a:lvl3pPr>
              <a:lnSpc>
                <a:spcPct val="90000"/>
              </a:lnSpc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069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2266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7200" y="4118372"/>
            <a:ext cx="4038600" cy="403202"/>
          </a:xfrm>
        </p:spPr>
        <p:txBody>
          <a:bodyPr lIns="0" tIns="72000" rIns="72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1020366"/>
            <a:ext cx="4038600" cy="3097796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11627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/>
          <p:cNvSpPr>
            <a:spLocks noGrp="1"/>
          </p:cNvSpPr>
          <p:nvPr>
            <p:ph type="tbl" sz="quarter" idx="12"/>
          </p:nvPr>
        </p:nvSpPr>
        <p:spPr>
          <a:xfrm>
            <a:off x="457200" y="1020367"/>
            <a:ext cx="4038600" cy="3098006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noProof="0"/>
              <a:t>Click icon to add table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57200" y="4118372"/>
            <a:ext cx="4038600" cy="403202"/>
          </a:xfrm>
        </p:spPr>
        <p:txBody>
          <a:bodyPr lIns="0" tIns="72000" rIns="72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25970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457200" y="1020367"/>
            <a:ext cx="4038600" cy="309800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19944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57200" y="4118372"/>
            <a:ext cx="4038600" cy="403202"/>
          </a:xfrm>
        </p:spPr>
        <p:txBody>
          <a:bodyPr lIns="0" tIns="72000" rIns="72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079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/>
        <p:txBody>
          <a:bodyPr rtlCol="0" anchor="ctr" anchorCtr="1">
            <a:normAutofit/>
          </a:bodyPr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94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587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60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Picture 7" descr="USY_MB1_PMS_1_Colour_Reversed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4429125"/>
            <a:ext cx="15367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884" y="261227"/>
            <a:ext cx="8388586" cy="396568"/>
          </a:xfrm>
        </p:spPr>
        <p:txBody>
          <a:bodyPr tIns="0" anchor="t"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884" y="657795"/>
            <a:ext cx="8387705" cy="639366"/>
          </a:xfrm>
        </p:spPr>
        <p:txBody>
          <a:bodyPr tIns="72000"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54455" y="1350309"/>
            <a:ext cx="8226486" cy="3476622"/>
          </a:xfrm>
          <a:solidFill>
            <a:srgbClr val="D9D9D9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16228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_widescreen_background file_charcoal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884" y="1348200"/>
            <a:ext cx="3948874" cy="1224574"/>
          </a:xfrm>
        </p:spPr>
        <p:txBody>
          <a:bodyPr tIns="0" anchor="t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428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_widescreen_background file_blue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4" y="1348200"/>
            <a:ext cx="3948874" cy="1388445"/>
          </a:xfrm>
        </p:spPr>
        <p:txBody>
          <a:bodyPr tIns="0" anchor="t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315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_widescreen_background file_yellow.jp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81884" y="1348200"/>
            <a:ext cx="3948874" cy="1634252"/>
          </a:xfrm>
        </p:spPr>
        <p:txBody>
          <a:bodyPr tIns="0" anchor="t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9771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 here… 28pt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Sub-heading Bold… 24pt</a:t>
            </a:r>
          </a:p>
          <a:p>
            <a:pPr lvl="0"/>
            <a:r>
              <a:rPr lang="en-US" dirty="0"/>
              <a:t>Add body copy </a:t>
            </a:r>
          </a:p>
          <a:p>
            <a:pPr lvl="0"/>
            <a:r>
              <a:rPr lang="en-US" dirty="0"/>
              <a:t>Add bullet point</a:t>
            </a:r>
          </a:p>
          <a:p>
            <a:pPr lvl="0"/>
            <a:r>
              <a:rPr lang="en-US" dirty="0"/>
              <a:t>Add bullet point</a:t>
            </a:r>
          </a:p>
        </p:txBody>
      </p:sp>
      <p:sp>
        <p:nvSpPr>
          <p:cNvPr id="11" name="Date Placeholder 3"/>
          <p:cNvSpPr txBox="1">
            <a:spLocks/>
          </p:cNvSpPr>
          <p:nvPr/>
        </p:nvSpPr>
        <p:spPr>
          <a:xfrm>
            <a:off x="381000" y="4767263"/>
            <a:ext cx="2133600" cy="2746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dirty="0"/>
              <a:t>The University of Sydney</a:t>
            </a: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6629400" y="4767263"/>
            <a:ext cx="2133600" cy="2746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Page </a:t>
            </a:r>
            <a:fld id="{17B45C2B-5911-204A-99D5-05E77B133151}" type="slidenum">
              <a:rPr lang="en-US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51" r:id="rId5"/>
    <p:sldLayoutId id="2147483752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47" r:id="rId21"/>
    <p:sldLayoutId id="2147483748" r:id="rId22"/>
    <p:sldLayoutId id="2147483749" r:id="rId23"/>
    <p:sldLayoutId id="2147483750" r:id="rId24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accent1"/>
          </a:solidFill>
          <a:latin typeface="Tw Cen MT"/>
          <a:ea typeface="ＭＳ Ｐゴシック" charset="0"/>
          <a:cs typeface="Tw Cen MT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Lucida Grande" charset="0"/>
        <a:buChar char="–"/>
        <a:defRPr sz="24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Human–AI annotation with provenance</a:t>
            </a:r>
            <a:br>
              <a:rPr lang="en-US" dirty="0">
                <a:ea typeface="+mj-ea"/>
              </a:rPr>
            </a:br>
            <a:endParaRPr lang="en-US" b="0" dirty="0">
              <a:solidFill>
                <a:schemeClr val="tx1"/>
              </a:solidFill>
              <a:ea typeface="+mj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Lucida Grande"/>
              <a:buNone/>
              <a:defRPr/>
            </a:pPr>
            <a:r>
              <a:rPr lang="en-US" b="1" dirty="0">
                <a:ea typeface="+mn-ea"/>
              </a:rPr>
              <a:t>Presented by Group CS-57</a:t>
            </a:r>
            <a:endParaRPr lang="en-US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buFont typeface="Lucida Grande"/>
              <a:buNone/>
              <a:defRPr/>
            </a:pPr>
            <a:r>
              <a:rPr lang="en-US" dirty="0" err="1">
                <a:ea typeface="+mn-ea"/>
              </a:rPr>
              <a:t>Hanchen Wang, Jingwei Lin, Yi Geng, Kanishka Kathait, Michael Max, Parth, Dishank Aswal, Tim Chung</a:t>
            </a:r>
          </a:p>
          <a:p>
            <a:pPr eaLnBrk="1" fontAlgn="auto" hangingPunct="1">
              <a:spcAft>
                <a:spcPts val="0"/>
              </a:spcAft>
              <a:buFont typeface="Lucida Grande"/>
              <a:buNone/>
              <a:defRPr/>
            </a:pPr>
            <a:r>
              <a:rPr lang="en-US" dirty="0">
                <a:ea typeface="+mn-ea"/>
              </a:rPr>
              <a:t>School of Computer Science · Client: </a:t>
            </a:r>
            <a:r>
              <a:rPr lang="en-US" altLang="zh-CN" dirty="0">
                <a:ea typeface="+mn-ea"/>
              </a:rPr>
              <a:t>Hunter Xu from </a:t>
            </a:r>
            <a:r>
              <a:rPr lang="en-US" dirty="0">
                <a:ea typeface="+mn-ea"/>
              </a:rPr>
              <a:t>Arc Intelligence (hej)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/>
              <a:t>Hanchen Wang (UniKey: [TBD])</a:t>
            </a:r>
          </a:p>
          <a:p>
            <a:pPr lvl="1"/>
            <a:r>
              <a:rPr sz="1100"/>
              <a:t>Project manager and client liaison; review integrity (D4–D6), work queues (D8), evaluation harness (I1, I2), performance (A6)</a:t>
            </a:r>
          </a:p>
          <a:p>
            <a:pPr marL="0" indent="0">
              <a:buNone/>
            </a:pPr>
            <a:r>
              <a:rPr sz="1400" b="1"/>
              <a:t>Jingwei Lin (UniKey: [TBD])</a:t>
            </a:r>
          </a:p>
          <a:p>
            <a:pPr lvl="1"/>
            <a:r>
              <a:rPr sz="1100"/>
              <a:t>Review policy and cross-validation (B2, D1–D3, D9); permissions (G1–G3); agreement and evaluation (I2–I5); organisations (J1, J4)</a:t>
            </a:r>
          </a:p>
          <a:p>
            <a:pPr marL="0" indent="0">
              <a:buNone/>
            </a:pPr>
            <a:r>
              <a:rPr sz="1400" b="1"/>
              <a:t>Yi Geng (UniKey: [TBD])</a:t>
            </a:r>
          </a:p>
          <a:p>
            <a:pPr lvl="1"/>
            <a:r>
              <a:rPr sz="1100"/>
              <a:t>AI provider (C1); disputes and adjudication (E1–E5); Expert Gate and roles (G1, G2); history graph and release screens (F5, H6)</a:t>
            </a:r>
          </a:p>
          <a:p>
            <a:pPr marL="0" indent="0">
              <a:buNone/>
            </a:pPr>
            <a:r>
              <a:rPr sz="1400" b="1"/>
              <a:t>Kanishka Kathait (UniKey: [TBD])</a:t>
            </a:r>
          </a:p>
          <a:p>
            <a:pPr lvl="1"/>
            <a:r>
              <a:rPr sz="1100"/>
              <a:t>Work queues (D8); dataset intake (B5); release artefact (H1); findings record (I5)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400" b="1"/>
              <a:t>Michael Max (UniKey: [TBD])</a:t>
            </a:r>
          </a:p>
          <a:p>
            <a:pPr lvl="1"/>
            <a:r>
              <a:rPr sz="1100"/>
              <a:t>AI first-pass worker (C1–C3); provenance events (F2); export policy and release gate (H2, H3)</a:t>
            </a:r>
          </a:p>
          <a:p>
            <a:pPr marL="0" indent="0">
              <a:buNone/>
            </a:pPr>
            <a:r>
              <a:rPr sz="1400" b="1"/>
              <a:t>Parth (UniKey: [TBD])</a:t>
            </a:r>
          </a:p>
          <a:p>
            <a:pPr lvl="1"/>
            <a:r>
              <a:rPr sz="1100"/>
              <a:t>PostgreSQL and CI; blind second review (D7); provenance capture (F1); disputes (E1–E3, E6); export checks (H5)</a:t>
            </a:r>
          </a:p>
          <a:p>
            <a:pPr marL="0" indent="0">
              <a:buNone/>
            </a:pPr>
            <a:r>
              <a:rPr sz="1400" b="1"/>
              <a:t>Dishank Aswal (UniKey: [TBD])</a:t>
            </a:r>
          </a:p>
          <a:p>
            <a:pPr lvl="1"/>
            <a:r>
              <a:rPr sz="1100"/>
              <a:t>Task lifecycle and completion (B4–B6); status validation (G4); reviewer corrections (D3); canonical export (H4, H5)</a:t>
            </a:r>
          </a:p>
          <a:p>
            <a:pPr marL="0" indent="0">
              <a:buNone/>
            </a:pPr>
            <a:r>
              <a:rPr sz="1400" b="1"/>
              <a:t>Tim Chung (UniKey: [TBD])</a:t>
            </a:r>
          </a:p>
          <a:p>
            <a:pPr lvl="1"/>
            <a:r>
              <a:rPr sz="1100"/>
              <a:t>Project setup (B1); invitations (G5); organisation roles and dashboard (J2, J3)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dataset must explain how each label got there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sz="2000"/>
              <a:t>Annotation tools are built around the moment of labelling</a:t>
            </a:r>
          </a:p>
          <a:p>
            <a:pPr lvl="1"/>
            <a:r>
              <a:rPr sz="2000"/>
              <a:t>Dataset production is everything else: source, guideline version, reviews, AI suggestions, disagreement, release</a:t>
            </a:r>
          </a:p>
          <a:p>
            <a:pPr lvl="1"/>
            <a:r>
              <a:rPr sz="2000"/>
              <a:t>Without that record a dataset can be shipped, but not defended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6" name="Key question"/>
          <p:cNvSpPr/>
          <p:nvPr/>
        </p:nvSpPr>
        <p:spPr>
          <a:xfrm>
            <a:off x="4846320" y="1234440"/>
            <a:ext cx="3657600" cy="201168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/>
            <a:r>
              <a:rPr sz="2600" b="1">
                <a:solidFill>
                  <a:schemeClr val="bg1"/>
                </a:solidFill>
                <a:latin typeface="+mn-lt"/>
              </a:rPr>
              <a:t>“How did this label get here?”</a:t>
            </a:r>
          </a:p>
          <a:p>
            <a:pPr algn="l"/>
            <a:r>
              <a:rPr sz="1400" b="0">
                <a:solidFill>
                  <a:schemeClr val="bg1"/>
                </a:solidFill>
                <a:latin typeface="+mn-lt"/>
              </a:rPr>
              <a:t>A released dataset should answer this for every item, and refuse to release when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Objective: one governed journey, six pillars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4" name="Pillar Govern"/>
          <p:cNvSpPr/>
          <p:nvPr/>
        </p:nvSpPr>
        <p:spPr>
          <a:xfrm>
            <a:off x="457200" y="1097280"/>
            <a:ext cx="2606040" cy="15087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800" b="1">
                <a:solidFill>
                  <a:schemeClr val="accent1"/>
                </a:solidFill>
                <a:latin typeface="+mn-lt"/>
              </a:rPr>
              <a:t>1  </a:t>
            </a:r>
            <a:r>
              <a:rPr sz="1800" b="1">
                <a:solidFill>
                  <a:schemeClr val="tx1"/>
                </a:solidFill>
                <a:latin typeface="+mn-lt"/>
              </a:rPr>
              <a:t>Govern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Organisations, projects, roles, capability-based permissions, versioned guidelines</a:t>
            </a:r>
          </a:p>
        </p:txBody>
      </p:sp>
      <p:sp>
        <p:nvSpPr>
          <p:cNvPr id="5" name="Pillar Assist"/>
          <p:cNvSpPr/>
          <p:nvPr/>
        </p:nvSpPr>
        <p:spPr>
          <a:xfrm>
            <a:off x="3246120" y="1097280"/>
            <a:ext cx="2606040" cy="15087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800" b="1">
                <a:solidFill>
                  <a:schemeClr val="accent1"/>
                </a:solidFill>
                <a:latin typeface="+mn-lt"/>
              </a:rPr>
              <a:t>2  </a:t>
            </a:r>
            <a:r>
              <a:rPr sz="1800" b="1">
                <a:solidFill>
                  <a:schemeClr val="tx1"/>
                </a:solidFill>
                <a:latin typeface="+mn-lt"/>
              </a:rPr>
              <a:t>Assist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AI suggestions behind a typed, replaceable model interface</a:t>
            </a:r>
          </a:p>
        </p:txBody>
      </p:sp>
      <p:sp>
        <p:nvSpPr>
          <p:cNvPr id="6" name="Pillar Record"/>
          <p:cNvSpPr/>
          <p:nvPr/>
        </p:nvSpPr>
        <p:spPr>
          <a:xfrm>
            <a:off x="6035040" y="1097280"/>
            <a:ext cx="2606040" cy="15087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800" b="1">
                <a:solidFill>
                  <a:schemeClr val="accent1"/>
                </a:solidFill>
                <a:latin typeface="+mn-lt"/>
              </a:rPr>
              <a:t>3  </a:t>
            </a:r>
            <a:r>
              <a:rPr sz="1800" b="1">
                <a:solidFill>
                  <a:schemeClr val="tx1"/>
                </a:solidFill>
                <a:latin typeface="+mn-lt"/>
              </a:rPr>
              <a:t>Record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Source, guideline version and the human response to AI, captured as it happens</a:t>
            </a:r>
          </a:p>
        </p:txBody>
      </p:sp>
      <p:sp>
        <p:nvSpPr>
          <p:cNvPr id="7" name="Pillar Adjudicate"/>
          <p:cNvSpPr/>
          <p:nvPr/>
        </p:nvSpPr>
        <p:spPr>
          <a:xfrm>
            <a:off x="457200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800" b="1">
                <a:solidFill>
                  <a:schemeClr val="accent1"/>
                </a:solidFill>
                <a:latin typeface="+mn-lt"/>
              </a:rPr>
              <a:t>4  </a:t>
            </a:r>
            <a:r>
              <a:rPr sz="1800" b="1">
                <a:solidFill>
                  <a:schemeClr val="tx1"/>
                </a:solidFill>
                <a:latin typeface="+mn-lt"/>
              </a:rPr>
              <a:t>Adjudicate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Review, disagreement and expert adjudication kept as distinct facts</a:t>
            </a:r>
          </a:p>
        </p:txBody>
      </p:sp>
      <p:sp>
        <p:nvSpPr>
          <p:cNvPr id="8" name="Pillar Release"/>
          <p:cNvSpPr/>
          <p:nvPr/>
        </p:nvSpPr>
        <p:spPr>
          <a:xfrm>
            <a:off x="3246120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800" b="1">
                <a:solidFill>
                  <a:schemeClr val="accent1"/>
                </a:solidFill>
                <a:latin typeface="+mn-lt"/>
              </a:rPr>
              <a:t>5  </a:t>
            </a:r>
            <a:r>
              <a:rPr sz="1800" b="1">
                <a:solidFill>
                  <a:schemeClr val="tx1"/>
                </a:solidFill>
                <a:latin typeface="+mn-lt"/>
              </a:rPr>
              <a:t>Release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Immutable releases with manifests, gated before they exist</a:t>
            </a:r>
          </a:p>
        </p:txBody>
      </p:sp>
      <p:sp>
        <p:nvSpPr>
          <p:cNvPr id="9" name="Pillar Evaluate"/>
          <p:cNvSpPr/>
          <p:nvPr/>
        </p:nvSpPr>
        <p:spPr>
          <a:xfrm>
            <a:off x="6035040" y="2788920"/>
            <a:ext cx="2606040" cy="15087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800" b="1">
                <a:solidFill>
                  <a:schemeClr val="accent1"/>
                </a:solidFill>
                <a:latin typeface="+mn-lt"/>
              </a:rPr>
              <a:t>6  </a:t>
            </a:r>
            <a:r>
              <a:rPr sz="1800" b="1">
                <a:solidFill>
                  <a:schemeClr val="tx1"/>
                </a:solidFill>
                <a:latin typeface="+mn-lt"/>
              </a:rPr>
              <a:t>Evaluate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Human-only versus AI-assisted work under repeatable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work: where existing approaches stop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/>
                        <a:t>Area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Representative work [cite]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What is missing for us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/>
                        <a:t>Annotation platforms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Label Studio, Prodigy, Argilla, CVAT [cite]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Strong labelling UI; review history and release gating are thin or add-ons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/>
                        <a:t>Provenance and dataset documentation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W3C PROV-DM; Datasheets for Datasets; Data Cards [cite]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Describe what to record; do not enforce it inside the workflow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/>
                        <a:t>Annotation agreement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Fleiss' kappa; Krippendorff's alpha [cite]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Measure agreement; say nothing about how a dispute was settled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/>
                        <a:t>Human–AI collaboration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Automation bias and anchoring studies [cite]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Motivate blind-then-reveal; rarely built into production tools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the platform we inherited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4" name="Stat 1"/>
          <p:cNvSpPr/>
          <p:nvPr/>
        </p:nvSpPr>
        <p:spPr>
          <a:xfrm>
            <a:off x="457200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4400" b="1">
                <a:solidFill>
                  <a:schemeClr val="accent1"/>
                </a:solidFill>
                <a:latin typeface="+mn-lt"/>
              </a:rPr>
              <a:t>30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defects found in the inherited code</a:t>
            </a:r>
          </a:p>
        </p:txBody>
      </p:sp>
      <p:sp>
        <p:nvSpPr>
          <p:cNvPr id="5" name="Stat 2"/>
          <p:cNvSpPr/>
          <p:nvPr/>
        </p:nvSpPr>
        <p:spPr>
          <a:xfrm>
            <a:off x="2560320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4400" b="1">
                <a:solidFill>
                  <a:schemeClr val="accent1"/>
                </a:solidFill>
                <a:latin typeface="+mn-lt"/>
              </a:rPr>
              <a:t>6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of them Critical, e.g. a finalised answer silently overwritten</a:t>
            </a:r>
          </a:p>
        </p:txBody>
      </p:sp>
      <p:sp>
        <p:nvSpPr>
          <p:cNvPr id="6" name="Stat 3"/>
          <p:cNvSpPr/>
          <p:nvPr/>
        </p:nvSpPr>
        <p:spPr>
          <a:xfrm>
            <a:off x="4663440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4400" b="1">
                <a:solidFill>
                  <a:schemeClr val="accent1"/>
                </a:solidFill>
                <a:latin typeface="+mn-lt"/>
              </a:rPr>
              <a:t>63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user stories across 11 epics, agreed with the client</a:t>
            </a:r>
          </a:p>
        </p:txBody>
      </p:sp>
      <p:sp>
        <p:nvSpPr>
          <p:cNvPr id="7" name="Stat 4"/>
          <p:cNvSpPr/>
          <p:nvPr/>
        </p:nvSpPr>
        <p:spPr>
          <a:xfrm>
            <a:off x="6766559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4400" b="1">
                <a:solidFill>
                  <a:schemeClr val="accent1"/>
                </a:solidFill>
                <a:latin typeface="+mn-lt"/>
              </a:rPr>
              <a:t>7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weekly sprints, 7 Sep – 28 Oct, including the break</a:t>
            </a:r>
          </a:p>
        </p:txBody>
      </p:sp>
      <p:sp>
        <p:nvSpPr>
          <p:cNvPr id="8" name="Stack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Stack we extend, not replace: </a:t>
            </a:r>
            <a:r>
              <a: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Next.js 16 + React 19 web app, FastAPI + SQLAlchemy service, PostgreSQL (SQLite still supported), OpenAI-compatible multi-provider AI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the API decides, the database remembers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20" name="Arch web"/>
          <p:cNvSpPr/>
          <p:nvPr/>
        </p:nvSpPr>
        <p:spPr>
          <a:xfrm>
            <a:off x="457200" y="1051560"/>
            <a:ext cx="1783080" cy="114300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Web app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Next.js 16 + React 19; shows only what the API allows</a:t>
            </a:r>
          </a:p>
        </p:txBody>
      </p:sp>
      <p:sp>
        <p:nvSpPr>
          <p:cNvPr id="21" name="Arch arrow 1"/>
          <p:cNvSpPr/>
          <p:nvPr/>
        </p:nvSpPr>
        <p:spPr>
          <a:xfrm>
            <a:off x="2286000" y="1495043"/>
            <a:ext cx="228600" cy="256032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rch api"/>
          <p:cNvSpPr/>
          <p:nvPr/>
        </p:nvSpPr>
        <p:spPr>
          <a:xfrm>
            <a:off x="2560320" y="1051560"/>
            <a:ext cx="178308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bg1"/>
                </a:solidFill>
                <a:latin typeface="+mn-lt"/>
              </a:rPr>
              <a:t>API</a:t>
            </a:r>
          </a:p>
          <a:p>
            <a:pPr algn="l"/>
            <a:r>
              <a:rPr sz="1200" b="0">
                <a:solidFill>
                  <a:schemeClr val="bg1"/>
                </a:solidFill>
                <a:latin typeface="+mn-lt"/>
              </a:rPr>
              <a:t>FastAPI; every action checks a capability on the server</a:t>
            </a:r>
          </a:p>
        </p:txBody>
      </p:sp>
      <p:sp>
        <p:nvSpPr>
          <p:cNvPr id="23" name="Arch arrow 2"/>
          <p:cNvSpPr/>
          <p:nvPr/>
        </p:nvSpPr>
        <p:spPr>
          <a:xfrm>
            <a:off x="4389120" y="1495043"/>
            <a:ext cx="228600" cy="256032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rch services"/>
          <p:cNvSpPr/>
          <p:nvPr/>
        </p:nvSpPr>
        <p:spPr>
          <a:xfrm>
            <a:off x="4663440" y="1051560"/>
            <a:ext cx="1783080" cy="114300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Domain services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Queues, reviews, disputes, release gate and manifest</a:t>
            </a:r>
          </a:p>
        </p:txBody>
      </p:sp>
      <p:sp>
        <p:nvSpPr>
          <p:cNvPr id="25" name="Arch arrow 3"/>
          <p:cNvSpPr/>
          <p:nvPr/>
        </p:nvSpPr>
        <p:spPr>
          <a:xfrm>
            <a:off x="6492240" y="1495043"/>
            <a:ext cx="228600" cy="256032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rch database"/>
          <p:cNvSpPr/>
          <p:nvPr/>
        </p:nvSpPr>
        <p:spPr>
          <a:xfrm>
            <a:off x="6766560" y="1051560"/>
            <a:ext cx="1920240" cy="114300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PostgreSQL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Versioned answers; provenance events locked by a trigger</a:t>
            </a:r>
          </a:p>
        </p:txBody>
      </p:sp>
      <p:sp>
        <p:nvSpPr>
          <p:cNvPr id="27" name="Arch arrow harness"/>
          <p:cNvSpPr/>
          <p:nvPr/>
        </p:nvSpPr>
        <p:spPr>
          <a:xfrm>
            <a:off x="3342132" y="2249424"/>
            <a:ext cx="219456" cy="329184"/>
          </a:xfrm>
          <a:prstGeom prst="up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rch harness"/>
          <p:cNvSpPr/>
          <p:nvPr/>
        </p:nvSpPr>
        <p:spPr>
          <a:xfrm>
            <a:off x="457200" y="2606040"/>
            <a:ext cx="3886200" cy="114300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Evaluation harness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86 cases call the same API with real logins and roles; verify re-checks a database read-only</a:t>
            </a:r>
          </a:p>
        </p:txBody>
      </p:sp>
      <p:sp>
        <p:nvSpPr>
          <p:cNvPr id="29" name="Arch providers"/>
          <p:cNvSpPr/>
          <p:nvPr/>
        </p:nvSpPr>
        <p:spPr>
          <a:xfrm>
            <a:off x="4663440" y="2606040"/>
            <a:ext cx="1783080" cy="114300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AI providers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One typed client; six OpenAI-compatible providers or a mock</a:t>
            </a:r>
          </a:p>
        </p:txBody>
      </p:sp>
      <p:sp>
        <p:nvSpPr>
          <p:cNvPr id="30" name="Arch arrow worker"/>
          <p:cNvSpPr/>
          <p:nvPr/>
        </p:nvSpPr>
        <p:spPr>
          <a:xfrm>
            <a:off x="6492240" y="3049524"/>
            <a:ext cx="228600" cy="256032"/>
          </a:xfrm>
          <a:prstGeom prst="lef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rch arrow db-worker"/>
          <p:cNvSpPr/>
          <p:nvPr/>
        </p:nvSpPr>
        <p:spPr>
          <a:xfrm>
            <a:off x="7616952" y="2249424"/>
            <a:ext cx="219456" cy="329184"/>
          </a:xfrm>
          <a:prstGeom prst="up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rch worker"/>
          <p:cNvSpPr/>
          <p:nvPr/>
        </p:nvSpPr>
        <p:spPr>
          <a:xfrm>
            <a:off x="6766560" y="2606040"/>
            <a:ext cx="1920240" cy="114300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AI worker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Separate process; calls the model outside any transaction</a:t>
            </a:r>
          </a:p>
        </p:txBody>
      </p:sp>
      <p:sp>
        <p:nvSpPr>
          <p:cNvPr id="33" name="Arch caption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No rule lives in the browser: </a:t>
            </a:r>
            <a:r>
              <a: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 API checks every action, and AI suggestions and human answers land in the same versioned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the end-to-end journey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4" name="Step 1"/>
          <p:cNvSpPr/>
          <p:nvPr/>
        </p:nvSpPr>
        <p:spPr>
          <a:xfrm>
            <a:off x="457200" y="1234440"/>
            <a:ext cx="2011680" cy="777240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1  Project and policy</a:t>
            </a:r>
          </a:p>
        </p:txBody>
      </p:sp>
      <p:sp>
        <p:nvSpPr>
          <p:cNvPr id="5" name="Step 2"/>
          <p:cNvSpPr/>
          <p:nvPr/>
        </p:nvSpPr>
        <p:spPr>
          <a:xfrm>
            <a:off x="2514600" y="1234440"/>
            <a:ext cx="2011680" cy="777240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2  Task and items</a:t>
            </a:r>
          </a:p>
        </p:txBody>
      </p:sp>
      <p:sp>
        <p:nvSpPr>
          <p:cNvPr id="6" name="Step 3"/>
          <p:cNvSpPr/>
          <p:nvPr/>
        </p:nvSpPr>
        <p:spPr>
          <a:xfrm>
            <a:off x="4572000" y="1234440"/>
            <a:ext cx="2011680" cy="77724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3  AI first pass</a:t>
            </a:r>
          </a:p>
        </p:txBody>
      </p:sp>
      <p:sp>
        <p:nvSpPr>
          <p:cNvPr id="7" name="Step 4"/>
          <p:cNvSpPr/>
          <p:nvPr/>
        </p:nvSpPr>
        <p:spPr>
          <a:xfrm>
            <a:off x="6629400" y="1234440"/>
            <a:ext cx="2011680" cy="777240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4  Review</a:t>
            </a:r>
          </a:p>
        </p:txBody>
      </p:sp>
      <p:sp>
        <p:nvSpPr>
          <p:cNvPr id="8" name="Step 5"/>
          <p:cNvSpPr/>
          <p:nvPr/>
        </p:nvSpPr>
        <p:spPr>
          <a:xfrm>
            <a:off x="457200" y="2468880"/>
            <a:ext cx="2011680" cy="777240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5  Cross-validation</a:t>
            </a:r>
          </a:p>
        </p:txBody>
      </p:sp>
      <p:sp>
        <p:nvSpPr>
          <p:cNvPr id="9" name="Step 6"/>
          <p:cNvSpPr/>
          <p:nvPr/>
        </p:nvSpPr>
        <p:spPr>
          <a:xfrm>
            <a:off x="2514600" y="2468880"/>
            <a:ext cx="2011680" cy="777240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6  Dispute</a:t>
            </a:r>
          </a:p>
        </p:txBody>
      </p:sp>
      <p:sp>
        <p:nvSpPr>
          <p:cNvPr id="10" name="Step 7"/>
          <p:cNvSpPr/>
          <p:nvPr/>
        </p:nvSpPr>
        <p:spPr>
          <a:xfrm>
            <a:off x="4572000" y="2468880"/>
            <a:ext cx="2011680" cy="777240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7  Adjudication</a:t>
            </a:r>
          </a:p>
        </p:txBody>
      </p:sp>
      <p:sp>
        <p:nvSpPr>
          <p:cNvPr id="11" name="Step 8"/>
          <p:cNvSpPr/>
          <p:nvPr/>
        </p:nvSpPr>
        <p:spPr>
          <a:xfrm>
            <a:off x="6629400" y="2468880"/>
            <a:ext cx="2011680" cy="77724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/>
            <a:r>
              <a:rPr sz="1200" b="1">
                <a:solidFill>
                  <a:schemeClr val="bg1"/>
                </a:solidFill>
                <a:latin typeface="+mn-lt"/>
              </a:rPr>
              <a:t>8  Release</a:t>
            </a:r>
          </a:p>
        </p:txBody>
      </p:sp>
      <p:sp>
        <p:nvSpPr>
          <p:cNvPr id="12" name="Journey caption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Each step is recorded with an actor and a time, </a:t>
            </a:r>
            <a:r>
              <a: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so any released item can show its source, guideline version, AI suggestion, human response, reviews and adjudication.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AI assists, and never fakes a suggestion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sz="1800"/>
              <a:t>One typed interface for every provider; mock and live are interchangeable</a:t>
            </a:r>
          </a:p>
          <a:p>
            <a:pPr lvl="1"/>
            <a:r>
              <a:rPr sz="1800"/>
              <a:t>A failed call is recorded as a failure, never as an answer</a:t>
            </a:r>
          </a:p>
          <a:p>
            <a:pPr lvl="1"/>
            <a:r>
              <a:rPr sz="1800"/>
              <a:t>Human-only and AI-first modes; blind-then-reveal as an evaluation protocol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6" name="AI chain 1"/>
          <p:cNvSpPr/>
          <p:nvPr/>
        </p:nvSpPr>
        <p:spPr>
          <a:xfrm>
            <a:off x="4846320" y="1097280"/>
            <a:ext cx="3840480" cy="822960"/>
          </a:xfrm>
          <a:prstGeom prst="roundRect">
            <a:avLst>
              <a:gd name="adj" fmla="val 8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Providers</a:t>
            </a:r>
          </a:p>
          <a:p>
            <a:pPr algn="l"/>
            <a:r>
              <a:rPr sz="1200" b="0">
                <a:solidFill>
                  <a:schemeClr val="tx1"/>
                </a:solidFill>
                <a:latin typeface="+mn-lt"/>
              </a:rPr>
              <a:t>OpenAI · Qwen · DeepSeek · Doubao · Groq · Ollama</a:t>
            </a:r>
          </a:p>
        </p:txBody>
      </p:sp>
      <p:sp>
        <p:nvSpPr>
          <p:cNvPr id="7" name="Down Arrow 6"/>
          <p:cNvSpPr/>
          <p:nvPr/>
        </p:nvSpPr>
        <p:spPr>
          <a:xfrm>
            <a:off x="6629400" y="1938528"/>
            <a:ext cx="274320" cy="274320"/>
          </a:xfrm>
          <a:prstGeom prst="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I chain 2"/>
          <p:cNvSpPr/>
          <p:nvPr/>
        </p:nvSpPr>
        <p:spPr>
          <a:xfrm>
            <a:off x="4846320" y="2240280"/>
            <a:ext cx="3840480" cy="822960"/>
          </a:xfrm>
          <a:prstGeom prst="roundRect">
            <a:avLst>
              <a:gd name="adj" fmla="val 8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Typed client</a:t>
            </a:r>
          </a:p>
          <a:p>
            <a:pPr algn="l"/>
            <a:r>
              <a:rPr sz="1200" b="0">
                <a:solidFill>
                  <a:schemeClr val="tx1"/>
                </a:solidFill>
                <a:latin typeface="+mn-lt"/>
              </a:rPr>
              <a:t>JsonCompletionClient protocol, per-modality analyzers</a:t>
            </a:r>
          </a:p>
        </p:txBody>
      </p:sp>
      <p:sp>
        <p:nvSpPr>
          <p:cNvPr id="9" name="Down Arrow 8"/>
          <p:cNvSpPr/>
          <p:nvPr/>
        </p:nvSpPr>
        <p:spPr>
          <a:xfrm>
            <a:off x="6629400" y="3081528"/>
            <a:ext cx="274320" cy="274320"/>
          </a:xfrm>
          <a:prstGeom prst="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I chain 3"/>
          <p:cNvSpPr/>
          <p:nvPr/>
        </p:nvSpPr>
        <p:spPr>
          <a:xfrm>
            <a:off x="4846320" y="3383280"/>
            <a:ext cx="3840480" cy="8229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bg1"/>
                </a:solidFill>
                <a:latin typeface="+mn-lt"/>
              </a:rPr>
              <a:t>Outcome</a:t>
            </a:r>
          </a:p>
          <a:p>
            <a:pPr algn="l"/>
            <a:r>
              <a:rPr sz="1200" b="0">
                <a:solidFill>
                  <a:schemeClr val="bg1"/>
                </a:solidFill>
                <a:latin typeface="+mn-lt"/>
              </a:rPr>
              <a:t>Suggestion with confidence, or an explicit AI failure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independent judgement, chosen per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sz="1800"/>
              <a:t>No one reviews or adjudicates their own work</a:t>
            </a:r>
          </a:p>
          <a:p>
            <a:pPr lvl="1"/>
            <a:r>
              <a:rPr sz="1800"/>
              <a:t>A second review never returns to the first reviewer</a:t>
            </a:r>
          </a:p>
          <a:p>
            <a:pPr lvl="1"/>
            <a:r>
              <a:rPr sz="1800"/>
              <a:t>A reviewer's correction is a proposal, not the answer</a:t>
            </a:r>
          </a:p>
          <a:p>
            <a:pPr lvl="1"/>
            <a:r>
              <a:rPr sz="1800"/>
              <a:t>An expert's decision is final: Accept, Return or Reject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6" name="Posture Standard"/>
          <p:cNvSpPr/>
          <p:nvPr/>
        </p:nvSpPr>
        <p:spPr>
          <a:xfrm>
            <a:off x="4846320" y="1051560"/>
            <a:ext cx="3840480" cy="749808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accent1"/>
                </a:solidFill>
                <a:latin typeface="+mn-lt"/>
              </a:rPr>
              <a:t>Standard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One approval; a cross-review sample (10% by default)</a:t>
            </a:r>
          </a:p>
        </p:txBody>
      </p:sp>
      <p:sp>
        <p:nvSpPr>
          <p:cNvPr id="7" name="Posture Dual sign-off"/>
          <p:cNvSpPr/>
          <p:nvPr/>
        </p:nvSpPr>
        <p:spPr>
          <a:xfrm>
            <a:off x="4846320" y="1920239"/>
            <a:ext cx="3840480" cy="749808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accent1"/>
                </a:solidFill>
                <a:latin typeface="+mn-lt"/>
              </a:rPr>
              <a:t>Dual sign-off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Two independent approvals on every item</a:t>
            </a:r>
          </a:p>
        </p:txBody>
      </p:sp>
      <p:sp>
        <p:nvSpPr>
          <p:cNvPr id="8" name="Posture Arbitration-ready"/>
          <p:cNvSpPr/>
          <p:nvPr/>
        </p:nvSpPr>
        <p:spPr>
          <a:xfrm>
            <a:off x="4846320" y="2788920"/>
            <a:ext cx="3840480" cy="749808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accent1"/>
                </a:solidFill>
                <a:latin typeface="+mn-lt"/>
              </a:rPr>
              <a:t>Arbitration-ready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 dispute closes only by an independent expert</a:t>
            </a:r>
          </a:p>
        </p:txBody>
      </p:sp>
      <p:sp>
        <p:nvSpPr>
          <p:cNvPr id="9" name="Posture Expert Gate"/>
          <p:cNvSpPr/>
          <p:nvPr/>
        </p:nvSpPr>
        <p:spPr>
          <a:xfrm>
            <a:off x="4846320" y="3657599"/>
            <a:ext cx="3840480" cy="749808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09728" tIns="109728" rIns="109728" bIns="109728" rtlCol="0" anchor="ctr"/>
          <a:lstStyle/>
          <a:p>
            <a:pPr algn="l"/>
            <a:r>
              <a:rPr sz="1400" b="1">
                <a:solidFill>
                  <a:schemeClr val="accent1"/>
                </a:solidFill>
                <a:latin typeface="+mn-lt"/>
              </a:rPr>
              <a:t>Expert Gate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An expert confirms every item before it is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provenance and a gated, checkable release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4" name="Release step 1"/>
          <p:cNvSpPr/>
          <p:nvPr/>
        </p:nvSpPr>
        <p:spPr>
          <a:xfrm>
            <a:off x="457200" y="1280160"/>
            <a:ext cx="1828800" cy="201168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Recorded decisions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Every write is a version, with actor, time and guideline version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20" y="2148840"/>
            <a:ext cx="228600" cy="274320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lease step 2"/>
          <p:cNvSpPr/>
          <p:nvPr/>
        </p:nvSpPr>
        <p:spPr>
          <a:xfrm>
            <a:off x="2606040" y="1280160"/>
            <a:ext cx="1828800" cy="201168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bg1"/>
                </a:solidFill>
                <a:latin typeface="+mn-lt"/>
              </a:rPr>
              <a:t>Release gate</a:t>
            </a:r>
          </a:p>
          <a:p>
            <a:pPr algn="l"/>
            <a:r>
              <a:rPr sz="1200" b="0">
                <a:solidFill>
                  <a:schemeClr val="bg1"/>
                </a:solidFill>
                <a:latin typeface="+mn-lt"/>
              </a:rPr>
              <a:t>Refuses unreviewed items, incomplete provenance or superseded versions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80560" y="2148840"/>
            <a:ext cx="228600" cy="274320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lease step 3"/>
          <p:cNvSpPr/>
          <p:nvPr/>
        </p:nvSpPr>
        <p:spPr>
          <a:xfrm>
            <a:off x="4754880" y="1280160"/>
            <a:ext cx="1828800" cy="201168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Immutable release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Frozen snapshot of one authoritative answer per item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629400" y="2148840"/>
            <a:ext cx="228600" cy="274320"/>
          </a:xfrm>
          <a:prstGeom prst="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lease step 4"/>
          <p:cNvSpPr/>
          <p:nvPr/>
        </p:nvSpPr>
        <p:spPr>
          <a:xfrm>
            <a:off x="6903720" y="1280160"/>
            <a:ext cx="1828800" cy="201168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1500" b="1">
                <a:solidFill>
                  <a:schemeClr val="accent1"/>
                </a:solidFill>
                <a:latin typeface="+mn-lt"/>
              </a:rPr>
              <a:t>Manifest</a:t>
            </a:r>
          </a:p>
          <a:p>
            <a:pPr algn="l"/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Lets anyone rebuild and check the release independently</a:t>
            </a:r>
          </a:p>
        </p:txBody>
      </p:sp>
      <p:sp>
        <p:nvSpPr>
          <p:cNvPr id="11" name="Release caption"/>
          <p:cNvSpPr/>
          <p:nvPr/>
        </p:nvSpPr>
        <p:spPr>
          <a:xfrm>
            <a:off x="457200" y="3566160"/>
            <a:ext cx="8229600" cy="7315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The gate reads what was recorded; </a:t>
            </a:r>
            <a:r>
              <a: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it can never be satisfied by someone asserting that review happened.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[TBD] Screenshot: one released item's history graph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solidFill>
            <a:schemeClr val="tx1">
              <a:lumMod val="7000"/>
              <a:lumOff val="93000"/>
            </a:schemeClr>
          </a:solidFill>
        </p:spPr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the full journey runs on realistic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sz="1800"/>
              <a:t>Datasets: AG News and Civil Comments ([TBD] items)</a:t>
            </a:r>
          </a:p>
          <a:p>
            <a:pPr lvl="1"/>
            <a:r>
              <a:rPr sz="1800"/>
              <a:t>Journey completed end to end on [TBD]</a:t>
            </a:r>
          </a:p>
          <a:p>
            <a:pPr lvl="1"/>
            <a:r>
              <a:rPr sz="1800"/>
              <a:t>[TBD] releases built, each with a manifest</a:t>
            </a:r>
          </a:p>
          <a:p>
            <a:pPr lvl="1"/>
            <a:r>
              <a:rPr sz="1800"/>
              <a:t>[TBD: one more result line]</a:t>
            </a:r>
          </a:p>
        </p:txBody>
      </p:sp>
      <p:sp>
        <p:nvSpPr>
          <p:cNvPr id="6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the evaluation casebook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sp>
        <p:nvSpPr>
          <p:cNvPr id="4" name="Result stat 1"/>
          <p:cNvSpPr/>
          <p:nvPr/>
        </p:nvSpPr>
        <p:spPr>
          <a:xfrm>
            <a:off x="457200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2800" b="1">
                <a:solidFill>
                  <a:schemeClr val="accent1"/>
                </a:solidFill>
                <a:latin typeface="+mn-lt"/>
              </a:rPr>
              <a:t>86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cases in the casebook, run through the real API</a:t>
            </a:r>
          </a:p>
        </p:txBody>
      </p:sp>
      <p:sp>
        <p:nvSpPr>
          <p:cNvPr id="5" name="Result stat 2"/>
          <p:cNvSpPr/>
          <p:nvPr/>
        </p:nvSpPr>
        <p:spPr>
          <a:xfrm>
            <a:off x="2560320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2800" b="1">
                <a:solidFill>
                  <a:schemeClr val="accent1"/>
                </a:solidFill>
                <a:latin typeface="+mn-lt"/>
              </a:rPr>
              <a:t>85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pass on main; one skipped, none failing</a:t>
            </a:r>
          </a:p>
        </p:txBody>
      </p:sp>
      <p:sp>
        <p:nvSpPr>
          <p:cNvPr id="6" name="Result stat 3"/>
          <p:cNvSpPr/>
          <p:nvPr/>
        </p:nvSpPr>
        <p:spPr>
          <a:xfrm>
            <a:off x="4663440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2800" b="1">
                <a:solidFill>
                  <a:schemeClr val="accent1"/>
                </a:solidFill>
                <a:latin typeface="+mn-lt"/>
              </a:rPr>
              <a:t>8/9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adversarial categories with a running case</a:t>
            </a:r>
          </a:p>
        </p:txBody>
      </p:sp>
      <p:sp>
        <p:nvSpPr>
          <p:cNvPr id="7" name="Result stat 4"/>
          <p:cNvSpPr/>
          <p:nvPr/>
        </p:nvSpPr>
        <p:spPr>
          <a:xfrm>
            <a:off x="6766559" y="1188720"/>
            <a:ext cx="1920240" cy="1737360"/>
          </a:xfrm>
          <a:prstGeom prst="roundRect">
            <a:avLst>
              <a:gd name="adj" fmla="val 8000"/>
            </a:avLst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algn="l"/>
            <a:r>
              <a:rPr sz="2800" b="1">
                <a:solidFill>
                  <a:schemeClr val="accent1"/>
                </a:solidFill>
                <a:latin typeface="+mn-lt"/>
              </a:rPr>
              <a:t>30/30</a:t>
            </a:r>
          </a:p>
          <a:p>
            <a:pPr algn="l"/>
            <a:r>
              <a:rPr sz="13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inherited defects closed, the 6 Critical included</a:t>
            </a:r>
          </a:p>
        </p:txBody>
      </p:sp>
      <p:sp>
        <p:nvSpPr>
          <p:cNvPr id="8" name="Casebook caption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chemeClr val="tx1"/>
                </a:solidFill>
                <a:latin typeface="+mn-lt"/>
              </a:rPr>
              <a:t>Repeatable by design: </a:t>
            </a:r>
            <a:r>
              <a: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each case builds a fresh database and a scripted AI, so a run is compared with a committed baseline. Figures from main at fd35571, 22 Oct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w Cen MT" charset="0"/>
              </a:rPr>
              <a:t>Results: AI quality against gold labels</a:t>
            </a:r>
          </a:p>
        </p:txBody>
      </p:sp>
      <p:sp>
        <p:nvSpPr>
          <p:cNvPr id="18435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sz="1800"/>
              <a:t>AG News: DeepSeek Flash 92.5% vs llama3 84.5%</a:t>
            </a:r>
          </a:p>
          <a:p>
            <a:pPr lvl="1"/>
            <a:r>
              <a:rPr sz="1800"/>
              <a:t>Civil Comments: 69.8% vs 65.5%, hard for both</a:t>
            </a:r>
          </a:p>
          <a:p>
            <a:pPr lvl="1"/>
            <a:r>
              <a:rPr sz="1800"/>
              <a:t>Toxic comments missed: recall 47% and 35%, yet confident (ECE 0.22, 0.27)</a:t>
            </a:r>
          </a:p>
          <a:p>
            <a:pPr lvl="1"/>
            <a:r>
              <a:rPr sz="1800"/>
              <a:t>One malformed reply counted as an AI failure, not an answer</a:t>
            </a:r>
          </a:p>
        </p:txBody>
      </p:sp>
      <p:sp>
        <p:nvSpPr>
          <p:cNvPr id="18436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buFont typeface="Lucida Grande" charset="0"/>
              <a:buNone/>
            </a:pPr>
            <a:r>
              <a:rPr lang="en-US">
                <a:latin typeface="Tw Cen MT" charset="0"/>
              </a:rPr>
              <a:t>Accuracy (%), full recorded runs of 200 records per dataset (ADR 019); DeepSeek Flash on Civil Comments: 199 answered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17267"/>
              </p:ext>
            </p:extLst>
          </p:nvPr>
        </p:nvGraphicFramePr>
        <p:xfrm>
          <a:off x="446548" y="1020368"/>
          <a:ext cx="4038600" cy="3098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437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what the evidence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/>
              <a:t>Supported</a:t>
            </a:r>
          </a:p>
          <a:p>
            <a:pPr lvl="1"/>
            <a:r>
              <a:rPr sz="1800"/>
              <a:t>Governance rules hold under adversarial cases</a:t>
            </a:r>
          </a:p>
          <a:p>
            <a:pPr lvl="1"/>
            <a:r>
              <a:rPr sz="1800"/>
              <a:t>Every release can be rebuilt from its manifest</a:t>
            </a:r>
          </a:p>
          <a:p>
            <a:pPr lvl="1"/>
            <a:r>
              <a:rPr sz="1800"/>
              <a:t>[TBD]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/>
              <a:t>Negative results, reported</a:t>
            </a:r>
          </a:p>
          <a:p>
            <a:pPr lvl="1"/>
            <a:r>
              <a:rPr sz="1800"/>
              <a:t>Models are confidently wrong on the hard class ([TBD])</a:t>
            </a:r>
          </a:p>
          <a:p>
            <a:pPr lvl="1"/>
            <a:r>
              <a:rPr sz="1800"/>
              <a:t>Coarse confidence values flatter calibration</a:t>
            </a:r>
          </a:p>
          <a:p>
            <a:pPr lvl="1"/>
            <a:r>
              <a:rPr sz="1800"/>
              <a:t>Human figures come from scripted participants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design decisions and their costs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6 Conclusion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/>
                        <a:t>Decision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Why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Cost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No item assignment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Client decision: work is self-served from role-checked queues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Independence must live in the queue query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PostgreSQL by default, SQLite kept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Concurrency for batch and multi-user work; fast local dev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Two databases to test; CI runs both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A correction is a proposal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The annotator's answer and the reviewer's view stay distinct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An expert or the author must adopt it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Admin oversees, does not judge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Separates governance from judgement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More roles to set up per project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Text is the committed demo path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Depth over breadth in the time available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Image, audio and video only must not break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against the brief's success criteria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6 Conclusion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/>
                        <a:t>Expected outcome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Evidence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Full journey runs on realistic data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End-to-end provenance for every released item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Immutable releases with manifests, gated before they exist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AI behind a typed interface; failure never disguised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Evaluation harness and a 40–60 case casebook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Every Critical defect closed or argued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[TBD]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Reflection: what worked, what we would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/>
              <a:t>What worked</a:t>
            </a:r>
          </a:p>
          <a:p>
            <a:pPr lvl="1"/>
            <a:r>
              <a:rPr sz="1800"/>
              <a:t>One spec per story; 22 decision records</a:t>
            </a:r>
          </a:p>
          <a:p>
            <a:pPr lvl="1"/>
            <a:r>
              <a:rPr sz="1800"/>
              <a:t>Independent review on every pull request</a:t>
            </a:r>
          </a:p>
          <a:p>
            <a:pPr lvl="1"/>
            <a:r>
              <a:rPr sz="1800"/>
              <a:t>The casebook as a regression net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/>
              <a:t>What we would change</a:t>
            </a:r>
          </a:p>
          <a:p>
            <a:pPr lvl="1"/>
            <a:r>
              <a:rPr sz="1800"/>
              <a:t>Records drifted ahead of the code</a:t>
            </a:r>
          </a:p>
          <a:p>
            <a:pPr lvl="1"/>
            <a:r>
              <a:rPr sz="1800"/>
              <a:t>Parallel branches changed the same files</a:t>
            </a:r>
          </a:p>
          <a:p>
            <a:pPr lvl="1"/>
            <a:r>
              <a:rPr sz="1800"/>
              <a:t>[TBD: one lesson per member]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 Motivation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2 Related work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3 Approach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4 Results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5 Discussion</a:t>
            </a:r>
            <a:r>
              <a:rPr sz="9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 ·  </a:t>
            </a:r>
            <a:r>
              <a:rPr sz="900" b="1">
                <a:solidFill>
                  <a:schemeClr val="accent1"/>
                </a:solidFill>
                <a:latin typeface="+mn-lt"/>
              </a:rPr>
              <a:t>6 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/>
              <a:t>[TBD] Full citations for the Related work slide, verified</a:t>
            </a:r>
          </a:p>
        </p:txBody>
      </p:sp>
      <p:sp>
        <p:nvSpPr>
          <p:cNvPr id="4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  <a:latin typeface="+mn-lt"/>
              </a:rPr>
              <a:t>Appendix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decision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100"/>
              <a:t>001 Explicit governance posture fields</a:t>
            </a:r>
          </a:p>
          <a:p>
            <a:pPr marL="0" indent="0">
              <a:buNone/>
            </a:pPr>
            <a:r>
              <a:rPr sz="1100"/>
              <a:t>002 Policy layer precedence</a:t>
            </a:r>
          </a:p>
          <a:p>
            <a:pPr marL="0" indent="0">
              <a:buNone/>
            </a:pPr>
            <a:r>
              <a:rPr sz="1100"/>
              <a:t>003 Review justification always required</a:t>
            </a:r>
          </a:p>
          <a:p>
            <a:pPr marL="0" indent="0">
              <a:buNone/>
            </a:pPr>
            <a:r>
              <a:rPr sz="1100"/>
              <a:t>004 Task-level annotation surfaces</a:t>
            </a:r>
          </a:p>
          <a:p>
            <a:pPr marL="0" indent="0">
              <a:buNone/>
            </a:pPr>
            <a:r>
              <a:rPr sz="1100"/>
              <a:t>005 Record-based text intake</a:t>
            </a:r>
          </a:p>
          <a:p>
            <a:pPr marL="0" indent="0">
              <a:buNone/>
            </a:pPr>
            <a:r>
              <a:rPr sz="1100"/>
              <a:t>006 Evaluation harness drives the API</a:t>
            </a:r>
          </a:p>
          <a:p>
            <a:pPr marL="0" indent="0">
              <a:buNone/>
            </a:pPr>
            <a:r>
              <a:rPr sz="1100"/>
              <a:t>007 Review decisions follow the queue</a:t>
            </a:r>
          </a:p>
          <a:p>
            <a:pPr marL="0" indent="0">
              <a:buNone/>
            </a:pPr>
            <a:r>
              <a:rPr sz="1100"/>
              <a:t>008 Reopening supersedes the round</a:t>
            </a:r>
          </a:p>
          <a:p>
            <a:pPr marL="0" indent="0">
              <a:buNone/>
            </a:pPr>
            <a:r>
              <a:rPr sz="1100"/>
              <a:t>009 Every write is a version</a:t>
            </a:r>
          </a:p>
          <a:p>
            <a:pPr marL="0" indent="0">
              <a:buNone/>
            </a:pPr>
            <a:r>
              <a:rPr sz="1100"/>
              <a:t>010 Independent second review</a:t>
            </a:r>
          </a:p>
          <a:p>
            <a:pPr marL="0" indent="0">
              <a:buNone/>
            </a:pPr>
            <a:r>
              <a:rPr sz="1100"/>
              <a:t>011 Adjudication independence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100"/>
              <a:t>012 A reviewer correction is a proposal</a:t>
            </a:r>
          </a:p>
          <a:p>
            <a:pPr marL="0" indent="0">
              <a:buNone/>
            </a:pPr>
            <a:r>
              <a:rPr sz="1100"/>
              <a:t>013 Annotation-level disputes</a:t>
            </a:r>
          </a:p>
          <a:p>
            <a:pPr marL="0" indent="0">
              <a:buNone/>
            </a:pPr>
            <a:r>
              <a:rPr sz="1100"/>
              <a:t>014 Review and submission state history</a:t>
            </a:r>
          </a:p>
          <a:p>
            <a:pPr marL="0" indent="0">
              <a:buNone/>
            </a:pPr>
            <a:r>
              <a:rPr sz="1100"/>
              <a:t>015 Production history at decision time</a:t>
            </a:r>
          </a:p>
          <a:p>
            <a:pPr marL="0" indent="0">
              <a:buNone/>
            </a:pPr>
            <a:r>
              <a:rPr sz="1100"/>
              <a:t>016 Blind-then-reveal is an evaluation protocol</a:t>
            </a:r>
          </a:p>
          <a:p>
            <a:pPr marL="0" indent="0">
              <a:buNone/>
            </a:pPr>
            <a:r>
              <a:rPr sz="1100"/>
              <a:t>017 Expert Gate reuses item reconciliation</a:t>
            </a:r>
          </a:p>
          <a:p>
            <a:pPr marL="0" indent="0">
              <a:buNone/>
            </a:pPr>
            <a:r>
              <a:rPr sz="1100"/>
              <a:t>018 Guidelines and policies are versioned</a:t>
            </a:r>
          </a:p>
          <a:p>
            <a:pPr marL="0" indent="0">
              <a:buNone/>
            </a:pPr>
            <a:r>
              <a:rPr sz="1100"/>
              <a:t>019 Agreement coefficients and a recorded model run</a:t>
            </a:r>
          </a:p>
          <a:p>
            <a:pPr marL="0" indent="0">
              <a:buNone/>
            </a:pPr>
            <a:r>
              <a:rPr sz="1100"/>
              <a:t>020 The release gate reads recorded decisions</a:t>
            </a:r>
          </a:p>
          <a:p>
            <a:pPr marL="0" indent="0">
              <a:buNone/>
            </a:pPr>
            <a:r>
              <a:rPr sz="1100"/>
              <a:t>021 A manifest lets anyone check the release</a:t>
            </a:r>
          </a:p>
          <a:p>
            <a:pPr marL="0" indent="0">
              <a:buNone/>
            </a:pPr>
            <a:r>
              <a:rPr sz="1100"/>
              <a:t>022 A held disagreement may be settled</a:t>
            </a:r>
          </a:p>
        </p:txBody>
      </p:sp>
      <p:sp>
        <p:nvSpPr>
          <p:cNvPr id="5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  <a:latin typeface="+mn-lt"/>
              </a:rPr>
              <a:t>Appendix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/>
              <a:t>[TBD] Backup material: defect register status, permission model, casebook coverage</a:t>
            </a:r>
          </a:p>
        </p:txBody>
      </p:sp>
      <p:sp>
        <p:nvSpPr>
          <p:cNvPr id="4" name="Section tag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chemeClr val="accent1"/>
                </a:solidFill>
                <a:latin typeface="+mn-lt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template-widescreen_August15">
  <a:themeElements>
    <a:clrScheme name="The University of Sydney_Color Theme">
      <a:dk1>
        <a:sysClr val="windowText" lastClr="000000"/>
      </a:dk1>
      <a:lt1>
        <a:sysClr val="window" lastClr="FFFFFF"/>
      </a:lt1>
      <a:dk2>
        <a:srgbClr val="0148A4"/>
      </a:dk2>
      <a:lt2>
        <a:srgbClr val="EEECE1"/>
      </a:lt2>
      <a:accent1>
        <a:srgbClr val="E64626"/>
      </a:accent1>
      <a:accent2>
        <a:srgbClr val="EF8025"/>
      </a:accent2>
      <a:accent3>
        <a:srgbClr val="FFB800"/>
      </a:accent3>
      <a:accent4>
        <a:srgbClr val="5C923E"/>
      </a:accent4>
      <a:accent5>
        <a:srgbClr val="5496DB"/>
      </a:accent5>
      <a:accent6>
        <a:srgbClr val="0148A4"/>
      </a:accent6>
      <a:hlink>
        <a:srgbClr val="E64626"/>
      </a:hlink>
      <a:folHlink>
        <a:srgbClr val="F0513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PPT-template-widescreen_August15</Template>
  <TotalTime>5</TotalTime>
  <Words>5073</Words>
  <Application>Microsoft Office PowerPoint</Application>
  <PresentationFormat>全屏显示(16:9)</PresentationFormat>
  <Paragraphs>568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Lucida Grande</vt:lpstr>
      <vt:lpstr>华文仿宋</vt:lpstr>
      <vt:lpstr>Arial</vt:lpstr>
      <vt:lpstr>Tw Cen MT</vt:lpstr>
      <vt:lpstr>PPT-template-widescreen_August15</vt:lpstr>
      <vt:lpstr>Human–AI annotation with provenance </vt:lpstr>
      <vt:lpstr>Information</vt:lpstr>
      <vt:lpstr>A dataset must explain how each label got there</vt:lpstr>
      <vt:lpstr>Objective: one governed journey, six pillars</vt:lpstr>
      <vt:lpstr>Related work: where existing approaches stop</vt:lpstr>
      <vt:lpstr>Background: the platform we inherited</vt:lpstr>
      <vt:lpstr>Approach: one core, the task item as the unit</vt:lpstr>
      <vt:lpstr>Approach: the end-to-end journey</vt:lpstr>
      <vt:lpstr>Approach: AI assists, and never fakes a suggestion</vt:lpstr>
      <vt:lpstr>Approach: independent judgement, chosen per project</vt:lpstr>
      <vt:lpstr>Approach: provenance and a gated, checkable release</vt:lpstr>
      <vt:lpstr>Results: the full journey runs on realistic data</vt:lpstr>
      <vt:lpstr>Results: the evaluation casebook</vt:lpstr>
      <vt:lpstr>Results: AI quality against gold labels</vt:lpstr>
      <vt:lpstr>Discussion: what the evidence shows</vt:lpstr>
      <vt:lpstr>Discussion: design decisions and their costs</vt:lpstr>
      <vt:lpstr>Conclusion: against the brief's success criteria</vt:lpstr>
      <vt:lpstr>Reflection: what worked, what we would change</vt:lpstr>
      <vt:lpstr>Appendix</vt:lpstr>
      <vt:lpstr>References</vt:lpstr>
      <vt:lpstr>Architecture decision records</vt:lpstr>
      <vt:lpstr>Q&amp;A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Presentation sub-title</dc:title>
  <dc:creator>Xi Wu</dc:creator>
  <cp:lastModifiedBy>翰宸 王</cp:lastModifiedBy>
  <cp:revision>4</cp:revision>
  <dcterms:created xsi:type="dcterms:W3CDTF">2023-03-02T12:07:27Z</dcterms:created>
  <dcterms:modified xsi:type="dcterms:W3CDTF">2026-10-22T04:51:54Z</dcterms:modified>
</cp:coreProperties>
</file>