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FADA9F-8511-449D-9E69-E89A8D48F33C}">
  <a:tblStyle styleId="{17FADA9F-8511-449D-9E69-E89A8D48F33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8E7"/>
          </a:solidFill>
        </a:fill>
      </a:tcStyle>
    </a:wholeTbl>
    <a:band1H>
      <a:tcTxStyle b="off" i="off"/>
      <a:tcStyle>
        <a:fill>
          <a:solidFill>
            <a:srgbClr val="F5CEC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5CEC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6f3b47991d20d803_3_1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h6f3b47991d20d803_3_1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Hanchen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20 s, not counted as a content slide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Title and team. One sentence on who the client is and what we built, then straight into the problem.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Introduce the group as CS-57 and the client, Arc Intelligence; do not read the member list aloud.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the title wording with the team</a:t>
            </a:r>
            <a:endParaRPr/>
          </a:p>
        </p:txBody>
      </p:sp>
      <p:sp>
        <p:nvSpPr>
          <p:cNvPr id="163" name="Google Shape;163;h6f3b47991d20d803_3_1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6f3b47991d20d803_3_1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h6f3b47991d20d803_3_1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 (information page required by the template)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0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member's full name, UniKey and roles. Each member picks their own slides; the rubric requires at least two per member. Two consecutive slides per member cut hand-offs. Target about 1 min 5 s per content slide, 17-18 min in all.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Markers read this page; it is not presented.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Every member: replace the UniKey placeholder with your 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Every member: confirm or rewrite your role line (drafted from your allocated stories)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Keep each role line to one or two lines at the current size</a:t>
            </a:r>
            <a:endParaRPr/>
          </a:p>
        </p:txBody>
      </p:sp>
      <p:sp>
        <p:nvSpPr>
          <p:cNvPr id="170" name="Google Shape;170;h6f3b47991d20d803_3_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6f3b47991d20d803_3_1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h6f3b47991d20d803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problem, backed by literature: datasets built with AI help can't explain their labels, so they can't be defended.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Open with the question in the red box, then show why it matters: three findings from the literature.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Define provenance in one sentence; every later slide builds on that word.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goal is not faster labelling; it is a dataset that can be defended item by item.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Hand-off: 'So what is the platform we were asked to fix?'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Rehearse a 15-second opening hook without notes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Optional: one concrete example from the client's domain (a moderation label nobody can trace)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Proposal §1–2 (Sambasivan 2021, Klie 2024, Schroeder 2025); progress report §1.1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6f3b47991d20d803_3_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h6f3b47991d20d803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Hej is, who uses it, and the state of the code we inherited.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One sentence: organisations use Hej to turn raw items into labelled datasets; people and AI label, others review, experts settle disagreements.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Walk the roles top to bottom; they reappear in the workflow slide, so name them clearly now.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We did not start from zero: Hej already annotated, but it could not defend its output.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Client direction (26 Aug): fix defects inside the story that needs them, not in a separate clean-up phase.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Re-check 30 / 6 against issues.md on the final date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§1.1, §1.3 (Table 2), §2.1 (O1); status check 1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6f3b47991d20d803_3_1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h6f3b47991d20d803_3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we set out to do: six pillars from the client's brief, two project questions, and what is in and out of scope.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Every story in the backlog serves one of these six pillars.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questions come from our proposal; the conclusion slide answers them.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Scope agreed with the client at status check 1: depth on text over breadth across modalities.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Success = the full journey runs on realistic data with end-to-end provenance and a gated release.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pillar wording against the client's ProjectDescription.pdf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Proposal §3.1–3.3; progress report §1.1; status check 1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6f3b47991d20d803_3_1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h6f3b47991d20d803_3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data we inherited from the client: four modalities, how each enters the platform, and what one text record looks like.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No new data is collected: the client supplied about 4 GB in four modalities.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Text arrives structured (JSONL with an id, the text and a gold label); image, audio and video arrive as unstructured files.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Point at the record: the task selects one field (payload_preview.text) for annotators and the AI; gold_annotations stays hidden and is used only to measure AI accuracy (Results).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We demo on AG News (news topic) and Civil Comments (toxicity) because they are the most different text tasks.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Classes confirmed from the task's label definitions (World, Sports, Business, Sci/Tech)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If asked about the '\b' in the source text: it is in the client's raw record; the slide shortens the text before it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§1.7 and Table 5; proposal §4.2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6f3b47991d20d803_3_1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h6f3b47991d20d803_3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Related work in four areas, and the gap each leaves that this project fills.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One sentence per row; the right-hand column is the point of the slide.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Rows 1–3 follow the literature review in our proposal; markers have read it.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Position the project: enforcement plus provenance inside the workflow, not documentation after the fact.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'why not Label Studio / Prodigy / Argilla?': they are strong labelling tools; we were asked to extend the client's own platform, and check any claim about their review or release features against their current documentation before saying it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Proposal §2.1–2.5 and references; progress report references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6f3b47991d20d803_3_1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h6f3b47991d20d803_3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architecture split into frontend, backend and data, with the external pieces on the right; follow one action top to bottom.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Frontend: one Next.js web app with a screen per role. It holds no rules: a hidden button is not a permission.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Backend: the API checks the user's capability on every request; domain services apply the workflow rules; the AI worker runs model calls in a separate process so a slow model never holds a database transaction.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Data: PostgreSQL keeps every answer as a version, and a trigger stops provenance events being edited. SQLite stays for fast local development; CI runs both (the client asked us to justify PostgreSQL: concurrency for multi-user and batch work).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Follow one action: a reviewer clicks Accept → the API checks they may review this item and didn't author it → the review service records the decision → the database stores a new version with actor and time.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evaluation harness logs in and calls the same routes as a person, so a passing case proves the real checks.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one example of a capability check refusing an action (for Q&amp;A)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apps/hej-api/app/core/permissions.py; app/worker.py; provenance triggers in app/models/db_models.py; ADR 006, ADR 009; docs/specs/tech-stack.md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6f3b47991d20d803_3_1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h6f3b47991d20d803_3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15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end-to-end workflow of one item: who acts at each step, what happens, and what passes it to the next step.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Walk one AG News item down the list; keep it the same item as the dataset and results slides.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Steps 4 and 5 depend on the task's mode: human-first tasks skip the AI pass; AI-assisted tasks send the AI's answer to review like any other author's.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No assignment: work is self-served from role-checked queues (client decision, 17 Sep).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Every step writes a provenance record (actor, time, guideline version); the next three slides zoom into AI assistance, review and release.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each step name matches a screen or endpoint in the app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three-outcome expert ruling (accept, return, reject) is merged on the final main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Table 9 (MVP journey) and §1.6; docs/specs/mission.md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6f3b47991d20d803_3_2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h6f3b47991d20d803_3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How AI assists: one typed interface for every provider, the AI as one more author, failures recorded as failures, and blind-then-reveal to measure influence.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a typed interface: the client must be able to swap models without touching the workflow.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'one more author': its suggestion goes through the same review as a person's answer.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Link to the inherited defect: failed AI calls used to be stored as real annotations (defect 20).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blind-then-reveal: it keeps the pre-reveal judgement, the AI suggestion and the final judgement as separate stages, so we can measure anchoring (Schroeder et al., 2025).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the provider list against app/core/config.py on the final main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Credit the background worker (Michael, C2) and the blind-then-reveal build (SCRUM-73) in one phrase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the answer to 'what happens when the model call fails?'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016; apps/hej-api/app/integrations/analyzers/base.py; progress report §1.7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6f3b47991d20d803_3_2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h6f3b47991d20d803_3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Independent judgement: the rules the server enforces, and the four governance postures a project can choose.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Left: rules every project gets. These are checked by the API, so a refused action returns an error even if someone bypasses the screens.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Independence lives in the queue query, because there is no assignee to encode it.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Right: the posture is the project's assurance level; it decides who may close a disagreement.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Client R2-8: dual sign-off says how ordinary agreement is established; arbitration-ready says what must happen when it fails.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Under Standard and Dual sign-off a held split may be settled by an independent reviewer; Arbitration-ready and the Expert Gate always go to an expert (ADR 022).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posture names match the labels in the UI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the four posture cards against project_policy_templates.py on the final main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one example of a refused action (403) for Q&amp;A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010, 011, 012, 017, 022; Sandhu et al., 1996 (separation of duty)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6f3b47991d20d803_3_2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h6f3b47991d20d803_3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Provenance and release: every write is a version, the gate refuses before a release exists, the release is immutable, and its manifest lets anyone check it.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six boxes are the answer to the opening question, 'How did this label get here?'.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gate before the release exists: a refused release leaves nothing half-published.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Team design (ADR 020): a superseded guideline gives a warning, not a refusal; pre-provenance work is exempt.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gate's refusal list against ADR 020 and the final code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the answer to 'how would an outsider check a release?' (manifest + I5 verify)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009, 018, 020, 021; Moreau &amp; Missier, 2013 (PROV-DM)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6f3b47991d20d803_3_3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h6f3b47991d20d803_3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evaluation casebook: how many end-to-end cases, how many pass, adversarial coverage and defects closed, all repeatable against a committed baseline.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the harness drives the API: it tests what a user can actually do, with real roles.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- 8 of 9: every adversarial category has a case; the ninth (a changed source, EV-018) is written but skipped until source versioning exists. Say so before you are asked.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- 30/30: defect 4, the last critical one (a finalised item exporting conflicting answers), is closed by H4 and pinned by EV-068 and EV-069.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integrity cases (EV-116 to EV-123) tamper with the database behind the API's back, and the verifier finds every change.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After 28 Oct, re-run on the frozen main commit; update the four cards if they change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Swap the example case for a real casebook case ID if a better one exists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uv run python -m evaluation run --baseline evaluation/baseline.json --exact, and list --coverage, on main fd35571 (22 Oct 2026); ADR 006; docs/evaluation-findings.md (PR #92)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6f3b47991d20d803_3_3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h6f3b47991d20d803_3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Jingwei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first result: the full journey runs on realistic data, shown as one item going in raw and coming out with its full recorded history.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Show, don't tell: left is what the client gave us; right is what the platform recorded about it, taken straight from the export.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Same item as the dataset slide (AG News record 1), on an AI-assisted task with DeepSeek Flash.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Read the right box top to bottom: it is the provenance list from the release slide, filled in for a real item.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AI's label matches the gold label here; the accuracy slide shows how often that holds.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If asked why the reviewer's reason is just 'Correct': the policy requires a reason, not a long one; consider re-running with a fuller reason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Optional: replace the right box with a screenshot of the item's history graph (screens by Yi, F5/H6)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Fill the item count, the date the journey was completed and the number of releases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§1.6–1.8; export from main after 28 Oct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h6f3b47991d20d803_3_3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h6f3b47991d20d803_3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Jingwei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AI quality against the gold labels: two models on two datasets, with accuracy and calibration shown together rather than as one score.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point is the third bullet: both models miss most toxic comments while sounding sure, so on Civil Comments a model's confidence is no reason to skip a person's review.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Explain ECE in one breath: how far the model's stated confidence is from how often it is right.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Same recorded replies give the same figures every time; a new recording is a new file.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If asked about llama3's calibration: it only states 0.8, 0.9 or 1.0, so its five-bin ECE on AG News (0.008) flatters it; by stated value it is 0.043, close to DeepSeek Flash's 0.040.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If asked whether anyone can reproduce this: the full runs read gold labels from the client's package, which is never committed; a 56-record committed subset replays the whole pipeline from a fresh clone, with different figures by design.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which model each recall and ECE figure belongs to (order assumed: DeepSeek Flash, then llama3)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019 (decision 6 and findings) on main; docs/evaluation-findings.md §3.2 (PR #92)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6f3b47991d20d803_3_3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h6f3b47991d20d803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Yi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Design decisions and their costs, then the limitations of what we built and measured.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Each row is a defendable decision; be ready for 'why not the alternative?'.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client asked us to justify the PostgreSQL choice explicitly (status check 2).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Limitations: say them before you are asked; they come from the findings record.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each row with its owner: PostgreSQL (Parth), admin/permission model (Yi, Jingwei), correction as proposal (Dishank)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docs/specs/mission.md → Non-Goals; ADR 012; permission model of 20 Oct; docs/evaluation-findings.md §4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6f3b47991d20d803_3_3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h6f3b47991d20d803_3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conclusion: each expected outcome of the brief, its status and the evidence for it, closing the loop with the opening question.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Close the loop: return to the opening question, 'How did this label get here?'.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Read the two answers at the bottom: they answer the project questions from the objectives slide.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Be honest: a partial outcome is reported as partial.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Status is set to Met for every row (green); change a row to Partial (amber) if the frozen main says otherwise. Fill Evidence after 28 Oct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Use the same frozen commit as the results slides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Only keep the subtitle claim if the release gate and provenance rows are Met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Keep the casebook figures identical on the architecture, casebook and conclusion slides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docs/specs/mission.md → What Success Looks Like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h6f3b47991d20d803_3_3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h6f3b47991d20d803_3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Reflection on how we worked, what we would change (each with a cause and a fix), and what comes next for the client.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Be honest and specific; markers reward reflection that names a cause and a fix.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Example: CI was blocked by billing for four days (16–20 Oct); we ran both databases locally before every review.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Next steps come straight from our limitations; they are what we'd hand over to the client.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Last sentence: thank the client and invite questions.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Collect one lesson from every member; choose the three strongest for the slide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Replace '[TBD: one lesson per member]'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h6f3b47991d20d803_3_3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h6f3b47991d20d803_3_3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0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Divider for the extra slides; they sit outside the 16-page limit.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 these slides only when a question needs them.</a:t>
            </a:r>
            <a:endParaRPr/>
          </a:p>
        </p:txBody>
      </p:sp>
      <p:sp>
        <p:nvSpPr>
          <p:cNvPr id="428" name="Google Shape;428;h6f3b47991d20d803_3_3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6f3b47991d20d803_3_3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h6f3b47991d20d803_3_3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not presented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Full references for the Motivation, Related work and Approach slides (taken from the proposal and progress report).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every entry is cited on a slide, and every slide citation is listed here</a:t>
            </a:r>
            <a:endParaRPr/>
          </a:p>
        </p:txBody>
      </p:sp>
      <p:sp>
        <p:nvSpPr>
          <p:cNvPr id="434" name="Google Shape;434;h6f3b47991d20d803_3_3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6f3b47991d20d803_3_3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h6f3b47991d20d803_3_3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0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of the 22 architecture decision records, as backup for 'why did you decide X?' questions.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Files are in hej/docs/adr/.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Add any ADR merged after 22 Oct</a:t>
            </a:r>
            <a:endParaRPr/>
          </a:p>
        </p:txBody>
      </p:sp>
      <p:sp>
        <p:nvSpPr>
          <p:cNvPr id="442" name="Google Shape;442;h6f3b47991d20d803_3_3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6f3b47991d20d803_3_3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h6f3b47991d20d803_3_3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0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Backup material for likely questions.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Every member must be able to answer on the whole project; the marker picks who answers.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One backup slide per likely area: defect register status, permission model, casebook coverage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Hanchen: circulate the Q&amp;A question bank and run one mock Q&amp;A</a:t>
            </a:r>
            <a:endParaRPr/>
          </a:p>
        </p:txBody>
      </p:sp>
      <p:sp>
        <p:nvSpPr>
          <p:cNvPr id="451" name="Google Shape;451;h6f3b47991d20d803_3_3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6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2">
  <p:cSld name="Title slide – Red option 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69F7152-Edit.jpg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20099" r="20655" t="0"/>
          <a:stretch/>
        </p:blipFill>
        <p:spPr>
          <a:xfrm>
            <a:off x="4579682" y="0"/>
            <a:ext cx="4564318" cy="51655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 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Divider - Option 2">
  <p:cSld name="1_Section Divider - Option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charcoal.jpg" id="67" name="Google Shape;6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>
            <p:ph type="title"/>
          </p:nvPr>
        </p:nvSpPr>
        <p:spPr>
          <a:xfrm>
            <a:off x="381884" y="1348200"/>
            <a:ext cx="3948874" cy="1224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–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Image">
  <p:cSld name="Title, Content and Imag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457200" y="4118372"/>
            <a:ext cx="4038600" cy="40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72000" wrap="square" tIns="720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9"/>
          <p:cNvSpPr/>
          <p:nvPr>
            <p:ph idx="2" type="pic"/>
          </p:nvPr>
        </p:nvSpPr>
        <p:spPr>
          <a:xfrm>
            <a:off x="457200" y="1020366"/>
            <a:ext cx="4038600" cy="3097796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9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3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Chart">
  <p:cSld name="Title, Content and Char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>
            <p:ph idx="2" type="chart"/>
          </p:nvPr>
        </p:nvSpPr>
        <p:spPr>
          <a:xfrm>
            <a:off x="457200" y="1020367"/>
            <a:ext cx="4038600" cy="3098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20"/>
          <p:cNvSpPr txBox="1"/>
          <p:nvPr>
            <p:ph idx="3" type="body"/>
          </p:nvPr>
        </p:nvSpPr>
        <p:spPr>
          <a:xfrm>
            <a:off x="457200" y="4118372"/>
            <a:ext cx="4038600" cy="40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72000" wrap="square" tIns="720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1 (add own image)">
  <p:cSld name="Title slide – Red option 1 (add own image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83" name="Google Shape;8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1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1"/>
          <p:cNvSpPr/>
          <p:nvPr>
            <p:ph idx="2" type="pic"/>
          </p:nvPr>
        </p:nvSpPr>
        <p:spPr>
          <a:xfrm>
            <a:off x="4587876" y="0"/>
            <a:ext cx="4556125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3">
  <p:cSld name="Title slide – Red option 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88" name="Google Shape;8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ped images_Widescreen_2.jpg" id="89" name="Google Shape;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2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4">
  <p:cSld name="Title slide – Red option 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93" name="Google Shape;9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ped images_Widescreen_4.jpg" id="94" name="Google Shape;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– Red option 4">
  <p:cSld name="1_Title slide – Red option 4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98" name="Google Shape;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4"/>
          <p:cNvPicPr preferRelativeResize="0"/>
          <p:nvPr/>
        </p:nvPicPr>
        <p:blipFill rotWithShape="1">
          <a:blip r:embed="rId3">
            <a:alphaModFix/>
          </a:blip>
          <a:srcRect b="0" l="6662" r="28959" t="0"/>
          <a:stretch/>
        </p:blipFill>
        <p:spPr>
          <a:xfrm>
            <a:off x="4530724" y="0"/>
            <a:ext cx="46132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4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 – Red option 4">
  <p:cSld name="2_Title slide – Red option 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103" name="Google Shape;10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69F8271-Edit.jpg" id="104" name="Google Shape;104;p25"/>
          <p:cNvPicPr preferRelativeResize="0"/>
          <p:nvPr/>
        </p:nvPicPr>
        <p:blipFill rotWithShape="1">
          <a:blip r:embed="rId3">
            <a:alphaModFix/>
          </a:blip>
          <a:srcRect b="0" l="21747" r="18811" t="0"/>
          <a:stretch/>
        </p:blipFill>
        <p:spPr>
          <a:xfrm>
            <a:off x="4560888" y="1"/>
            <a:ext cx="45831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5 (no image)">
  <p:cSld name="Title slide – Red option 5 (no image)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108" name="Google Shape;10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1 (add own image)">
  <p:cSld name="Title slide – White option 1 (add own image)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Y_MB1_PMS_1_Colour_Standard_Logo.png" id="113" name="Google Shape;11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7"/>
          <p:cNvSpPr/>
          <p:nvPr>
            <p:ph idx="2" type="pic"/>
          </p:nvPr>
        </p:nvSpPr>
        <p:spPr>
          <a:xfrm>
            <a:off x="4645169" y="313766"/>
            <a:ext cx="4035774" cy="4513166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5" name="Google Shape;115;p27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2">
  <p:cSld name="Title slide – White option 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ped images_Widescreen_5.jpg" id="119" name="Google Shape;1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45025" y="314325"/>
            <a:ext cx="4035425" cy="4516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Y_MB1_PMS_1_Colour_Standard_Logo.png" id="120" name="Google Shape;1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8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3">
  <p:cSld name="Title slide – White option 3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ped images_Widescreen_6.jpg" id="125" name="Google Shape;12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49788" y="314325"/>
            <a:ext cx="4030662" cy="451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Y_MB1_PMS_1_Colour_Standard_Logo.png" id="126" name="Google Shape;1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9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4">
  <p:cSld name="Title slide – White option 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ped images_Widescreen_3.jpg" id="131" name="Google Shape;13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45025" y="309563"/>
            <a:ext cx="4035425" cy="451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Y_MB1_PMS_1_Colour_Standard_Logo.png" id="132" name="Google Shape;1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0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5 (no image)">
  <p:cSld name="Title slide – White option 5 (no image)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Y_MB1_PMS_1_Colour_Standard_Logo.png" id="137" name="Google Shape;13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able">
  <p:cSld name="Title, Content and Tab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3" name="Google Shape;143;p32"/>
          <p:cNvSpPr txBox="1"/>
          <p:nvPr>
            <p:ph idx="2" type="body"/>
          </p:nvPr>
        </p:nvSpPr>
        <p:spPr>
          <a:xfrm>
            <a:off x="457200" y="4118372"/>
            <a:ext cx="4038600" cy="40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72000" wrap="square" tIns="720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/>
          <p:nvPr>
            <p:ph idx="2" type="pic"/>
          </p:nvPr>
        </p:nvSpPr>
        <p:spPr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33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Option 1">
  <p:cSld name="Section Divider - Option 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Y_MB1_PMS_1_Colour_Reversed_Logo.png" id="150" name="Google Shape;1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025" y="4429125"/>
            <a:ext cx="1536700" cy="3984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5"/>
          <p:cNvSpPr txBox="1"/>
          <p:nvPr>
            <p:ph type="title"/>
          </p:nvPr>
        </p:nvSpPr>
        <p:spPr>
          <a:xfrm>
            <a:off x="381884" y="261227"/>
            <a:ext cx="8388586" cy="396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381884" y="657795"/>
            <a:ext cx="8387705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5"/>
          <p:cNvSpPr/>
          <p:nvPr>
            <p:ph idx="2" type="pic"/>
          </p:nvPr>
        </p:nvSpPr>
        <p:spPr>
          <a:xfrm>
            <a:off x="454455" y="1350309"/>
            <a:ext cx="8226486" cy="3476622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Option 3">
  <p:cSld name="Section Divider - Option 3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blue.jpg" id="155" name="Google Shape;15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6"/>
          <p:cNvSpPr txBox="1"/>
          <p:nvPr>
            <p:ph type="title"/>
          </p:nvPr>
        </p:nvSpPr>
        <p:spPr>
          <a:xfrm>
            <a:off x="381884" y="1348200"/>
            <a:ext cx="3948874" cy="1388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Option 4">
  <p:cSld name="Section Divider - Option 4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yellow.jpg" id="158" name="Google Shape;15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7"/>
          <p:cNvSpPr txBox="1"/>
          <p:nvPr>
            <p:ph type="title"/>
          </p:nvPr>
        </p:nvSpPr>
        <p:spPr>
          <a:xfrm>
            <a:off x="381884" y="1348200"/>
            <a:ext cx="3948874" cy="1634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–"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3810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University of Sydney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66294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Page </a:t>
            </a:r>
            <a:fld id="{00000000-1234-1234-1234-123412341234}" type="slidenum">
              <a:rPr b="0" i="0" lang="en" sz="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381883" y="502920"/>
            <a:ext cx="3965263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600"/>
              <a:t>Human-AI Data Annotation, Provenance and Dataset Evaluation Platform</a:t>
            </a:r>
            <a:br>
              <a:rPr lang="en"/>
            </a:br>
            <a:endParaRPr b="0">
              <a:solidFill>
                <a:schemeClr val="dk1"/>
              </a:solidFill>
            </a:endParaRPr>
          </a:p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None/>
            </a:pPr>
            <a:r>
              <a:rPr b="1" lang="en"/>
              <a:t>Presented by Group CS-57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None/>
            </a:pPr>
            <a:r>
              <a:rPr lang="en"/>
              <a:t>Hanchen Wang, Jingwei Lin, Yi Geng, Kanishka Kathait, Michael Max, Parth, Dishank Aswal, Tim Chung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None/>
            </a:pPr>
            <a:r>
              <a:rPr lang="en"/>
              <a:t>School of Computer Science · Client: Hunter Xu from Arc Intelligence (hej)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9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Information</a:t>
            </a:r>
            <a:endParaRPr/>
          </a:p>
        </p:txBody>
      </p:sp>
      <p:sp>
        <p:nvSpPr>
          <p:cNvPr id="173" name="Google Shape;173;p39"/>
          <p:cNvSpPr txBox="1"/>
          <p:nvPr>
            <p:ph idx="1" type="body"/>
          </p:nvPr>
        </p:nvSpPr>
        <p:spPr>
          <a:xfrm>
            <a:off x="457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Hanchen Wang (hwan9127)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Project manager and client liaison; review integrity, work queues, evaluation harness, performance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Jingwei Lin (UniKey: [TBD])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Review policy and cross-validation; permissions; agreement and evaluation measures; organisations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Yi Geng (UniKey: [TBD])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AI provider; disputes and adjudication; Expert Gate and roles; history and release screens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Kanishka Kathait (kkat0910)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Work queues; dataset intake; release artefact; findings record</a:t>
            </a:r>
            <a:endParaRPr/>
          </a:p>
        </p:txBody>
      </p:sp>
      <p:sp>
        <p:nvSpPr>
          <p:cNvPr id="174" name="Google Shape;174;p39"/>
          <p:cNvSpPr txBox="1"/>
          <p:nvPr>
            <p:ph idx="2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Michael Max (mmax0966)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C</a:t>
            </a:r>
            <a:r>
              <a:rPr lang="en" sz="1100"/>
              <a:t>lient liaison; </a:t>
            </a:r>
            <a:r>
              <a:rPr lang="en" sz="1100"/>
              <a:t>AI first-pass worker; provenance events; export policy and release gate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Parth (part0922)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PostgreSQL migration and CI; blind second review; provenance capture; disputes; export checks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Dishank Aswal (dasw0018)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Task lifecycle and completion; status validation; reviewer corrections; canonical export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Tim Chung (UniKey: [tchu0487])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Project setup; invitations; organisation roles and permission governance and dashboard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Without a record of how each label was made, a dataset can't be defended</a:t>
            </a:r>
            <a:endParaRPr/>
          </a:p>
        </p:txBody>
      </p:sp>
      <p:sp>
        <p:nvSpPr>
          <p:cNvPr id="180" name="Google Shape;180;p40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0"/>
          <p:cNvSpPr/>
          <p:nvPr/>
        </p:nvSpPr>
        <p:spPr>
          <a:xfrm>
            <a:off x="457200" y="1261872"/>
            <a:ext cx="4572000" cy="8229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problems travel downstream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Errors made while collecting and labelling data carry into the AI systems built on it </a:t>
            </a:r>
            <a:r>
              <a:rPr b="0" i="1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(Sambasivan et al., 2021)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0"/>
          <p:cNvSpPr/>
          <p:nvPr/>
        </p:nvSpPr>
        <p:spPr>
          <a:xfrm>
            <a:off x="457200" y="2176272"/>
            <a:ext cx="4572000" cy="8229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Annotation quality is rarely reported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labels were checked is poorly managed and reported, even in published datasets </a:t>
            </a:r>
            <a:r>
              <a:rPr b="0" i="1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(Klie et al., 2024)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0"/>
          <p:cNvSpPr/>
          <p:nvPr/>
        </p:nvSpPr>
        <p:spPr>
          <a:xfrm>
            <a:off x="457200" y="3090672"/>
            <a:ext cx="4572000" cy="8229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suggestions shape human judgement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LLM suggestions changed annotators' decisions and raised their confidence </a:t>
            </a:r>
            <a:r>
              <a:rPr b="0" i="1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(Schroeder et al., 2025)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5212080" y="1261872"/>
            <a:ext cx="3474720" cy="265176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“How did this label get here?”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released dataset should answer, for every item: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labelled it, under which guideline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the AI suggested; was it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reviewed it, and why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disagreement was settled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…and refuse to release when it can't.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Provenance </a:t>
            </a: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 that record: the history of how a label came to be (source, guideline version, AI suggestion, human response, reviews and adjudication), each step with an actor and a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1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Hej, the platform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Arc Intelligence's Human Evaluation and Judgement platform, which we inherited and extended</a:t>
            </a:r>
            <a:endParaRPr/>
          </a:p>
        </p:txBody>
      </p:sp>
      <p:sp>
        <p:nvSpPr>
          <p:cNvPr id="191" name="Google Shape;191;p41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1"/>
          <p:cNvSpPr txBox="1"/>
          <p:nvPr/>
        </p:nvSpPr>
        <p:spPr>
          <a:xfrm>
            <a:off x="457200" y="124358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uses it</a:t>
            </a:r>
            <a:r>
              <a:rPr b="0" i="0" lang="en" sz="11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seven user types, each with checked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1"/>
          <p:cNvSpPr/>
          <p:nvPr/>
        </p:nvSpPr>
        <p:spPr>
          <a:xfrm>
            <a:off x="457200" y="1572768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Administrator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Invites members and assigns their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1"/>
          <p:cNvSpPr/>
          <p:nvPr/>
        </p:nvSpPr>
        <p:spPr>
          <a:xfrm>
            <a:off x="3200400" y="1572768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Sets up projects, policies and datasets; releases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1"/>
          <p:cNvSpPr/>
          <p:nvPr/>
        </p:nvSpPr>
        <p:spPr>
          <a:xfrm>
            <a:off x="457200" y="2295144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Labels items, independently of colleagues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1"/>
          <p:cNvSpPr/>
          <p:nvPr/>
        </p:nvSpPr>
        <p:spPr>
          <a:xfrm>
            <a:off x="3200400" y="2295144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Accepts, corrects or rejects work, with a reason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1"/>
          <p:cNvSpPr/>
          <p:nvPr/>
        </p:nvSpPr>
        <p:spPr>
          <a:xfrm>
            <a:off x="457200" y="3017520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Dispute participant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Escalates a disagreement to an 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1"/>
          <p:cNvSpPr/>
          <p:nvPr/>
        </p:nvSpPr>
        <p:spPr>
          <a:xfrm>
            <a:off x="3200400" y="3017520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Rules on disputes independently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457200" y="3739896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Quality 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Assesses released data and 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1"/>
          <p:cNvSpPr/>
          <p:nvPr/>
        </p:nvSpPr>
        <p:spPr>
          <a:xfrm>
            <a:off x="3200400" y="3739896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Client: Arc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Owns the platform; decides product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6080760" y="1243584"/>
            <a:ext cx="2606040" cy="321868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Where we started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Next.js web app and FastAPI service: working, but immature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30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defects in our audit, </a:t>
            </a: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critical, e.g. finalised answers silently overwritten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Failed AI calls saved as fake annotations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code review; changes overwrote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 extended it, fixing each defect inside the feature that needed it, proven by a test that fails on the old code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(Kruchten et al., 2012; Feathers, 2004)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Objectives and scope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Turn an annotation tool into a defensible dataset-production system</a:t>
            </a:r>
            <a:endParaRPr/>
          </a:p>
        </p:txBody>
      </p:sp>
      <p:sp>
        <p:nvSpPr>
          <p:cNvPr id="207" name="Google Shape;207;p42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2"/>
          <p:cNvSpPr/>
          <p:nvPr/>
        </p:nvSpPr>
        <p:spPr>
          <a:xfrm>
            <a:off x="457200" y="1261872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Govern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Organisations, roles, permissions, versioned guidelines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2"/>
          <p:cNvSpPr/>
          <p:nvPr/>
        </p:nvSpPr>
        <p:spPr>
          <a:xfrm>
            <a:off x="2697480" y="1261872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suggestions behind one replaceable model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2"/>
          <p:cNvSpPr/>
          <p:nvPr/>
        </p:nvSpPr>
        <p:spPr>
          <a:xfrm>
            <a:off x="457200" y="2340863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did what, when, and under which guideline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2"/>
          <p:cNvSpPr/>
          <p:nvPr/>
        </p:nvSpPr>
        <p:spPr>
          <a:xfrm>
            <a:off x="2697480" y="2340863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Review, disagreement and expert rulings kept as distinct facts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2"/>
          <p:cNvSpPr/>
          <p:nvPr/>
        </p:nvSpPr>
        <p:spPr>
          <a:xfrm>
            <a:off x="457200" y="3419856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Immutable releases, refused when history is incomplete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2"/>
          <p:cNvSpPr/>
          <p:nvPr/>
        </p:nvSpPr>
        <p:spPr>
          <a:xfrm>
            <a:off x="2697480" y="3419856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Repeatable measurement of quality, collaboration and integrity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2"/>
          <p:cNvSpPr/>
          <p:nvPr/>
        </p:nvSpPr>
        <p:spPr>
          <a:xfrm>
            <a:off x="5074920" y="1261872"/>
            <a:ext cx="3611880" cy="175564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Q1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can a platform integrate human-AI annotation while keeping decisions transparent and governed?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Q2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can automated validation and evaluation ensure the quality, integrity and reproducibility of AI-assisted datasets?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2"/>
          <p:cNvSpPr/>
          <p:nvPr/>
        </p:nvSpPr>
        <p:spPr>
          <a:xfrm>
            <a:off x="5074920" y="3108960"/>
            <a:ext cx="3611880" cy="1344168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 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full workflow, governance, provenance, release, and 40–60 evaluation cases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 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faster labelling; training or fine-tuning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Text 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 the committed demo path; image, audio and video keep 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client's dataset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About 4 GB across four modalities; text is our committed demo path</a:t>
            </a:r>
            <a:endParaRPr/>
          </a:p>
        </p:txBody>
      </p:sp>
      <p:sp>
        <p:nvSpPr>
          <p:cNvPr id="221" name="Google Shape;221;p43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43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{17FADA9F-8511-449D-9E69-E89A8D48F33C}</a:tableStyleId>
              </a:tblPr>
              <a:tblGrid>
                <a:gridCol w="804675"/>
                <a:gridCol w="2624325"/>
                <a:gridCol w="16459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Modality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Datasets (task), ~200 items each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Form → item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Text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AG News (topic), Few-NERD (entities), SemEval-2010 T8 (relations), Civil Comments (toxicity)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Structured JSONL; one item per record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Image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BoneBreak (fracture), Retail Product Checkout (inventory)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Media files; one item per file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Audio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LibriSpeech (transcription), MInDS-14 (intent)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WAV files; one item per file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Video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UCF101 (action), MOT17 and UOT32 (tracking)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Video; kept working, not extended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43"/>
          <p:cNvSpPr txBox="1"/>
          <p:nvPr/>
        </p:nvSpPr>
        <p:spPr>
          <a:xfrm>
            <a:off x="457200" y="3767328"/>
            <a:ext cx="5074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subset has a </a:t>
            </a: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folder (records or media) and a </a:t>
            </a: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handoff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folder (task and label list). Items point to the client's files and record their hash. We demo on AG News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(Zhang et al., 2015)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and Civil Comments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(Borkan et al., 2019)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3"/>
          <p:cNvSpPr/>
          <p:nvPr/>
        </p:nvSpPr>
        <p:spPr>
          <a:xfrm>
            <a:off x="5760720" y="1261872"/>
            <a:ext cx="2926080" cy="3200400"/>
          </a:xfrm>
          <a:prstGeom prst="roundRect">
            <a:avLst>
              <a:gd fmla="val 8000" name="adj"/>
            </a:avLst>
          </a:prstGeom>
          <a:solidFill>
            <a:srgbClr val="FFF4E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raw AG News 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test-ag-news-text.jsonl, record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"external_item_ref":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"ag_news:train:0000",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"split": "train",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"source_record_id": "0",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"payload_preview": {"text":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"Wall St. Bears Claw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 Into the Black…"},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"gold_annotations":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  [{"label": "Business"}]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Shown 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only the selected text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Hidden 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gold label; used only to score the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Classes 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World · Sports · Business · Sci/Tech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Related work and the gap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problem is well studied on its own; no tool enforces them together</a:t>
            </a:r>
            <a:endParaRPr/>
          </a:p>
        </p:txBody>
      </p:sp>
      <p:sp>
        <p:nvSpPr>
          <p:cNvPr id="230" name="Google Shape;230;p44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· RELATED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p44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{17FADA9F-8511-449D-9E69-E89A8D48F33C}</a:tableStyleId>
              </a:tblPr>
              <a:tblGrid>
                <a:gridCol w="1325875"/>
                <a:gridCol w="4343400"/>
                <a:gridCol w="25603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Area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What the literature shows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What is missing for us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AI-assisted annotation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Cheap labels work if quality is checked (Snow et al., 2008); LLMs can't replace annotators (Felkner et al., 2024) and their suggestions sway them (Schroeder et al., 2025)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The AI's suggestion is rarely kept alongside the human response to it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Quality and agreement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Disagreement carries information (Plank, 2022); agreement should be chance-corrected (Artstein &amp; Poesio, 2008); quality is poorly reported (Klie et al., 2024)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Metrics measure agreement, but say nothing about how a dispute was settled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Provenance and documentation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PROV-DM models entities, activities and agents (Moreau &amp; Missier, 2013); applied to annotated corpora (Lek et al., 2020); datasheets document a dataset (Gebru et al., 2021)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They describe what to record; nothing enforces it inside the workflow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Access control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Role-based access control and separation of duty define who may act (Sandhu et al., 1996)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Not applied to who may judge, review or settle a label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44"/>
          <p:cNvSpPr/>
          <p:nvPr/>
        </p:nvSpPr>
        <p:spPr>
          <a:xfrm>
            <a:off x="457200" y="4041648"/>
            <a:ext cx="8229600" cy="45720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ctr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Our contribution: </a:t>
            </a: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platform that enforces the workflow, records provenance as it happens, and refuses a release it can't trace.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System architecture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frontend only displays; every rule is checked on the backend</a:t>
            </a:r>
            <a:endParaRPr/>
          </a:p>
        </p:txBody>
      </p:sp>
      <p:sp>
        <p:nvSpPr>
          <p:cNvPr id="238" name="Google Shape;238;p45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5"/>
          <p:cNvSpPr txBox="1"/>
          <p:nvPr/>
        </p:nvSpPr>
        <p:spPr>
          <a:xfrm>
            <a:off x="457200" y="1261872"/>
            <a:ext cx="868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5"/>
          <p:cNvSpPr txBox="1"/>
          <p:nvPr/>
        </p:nvSpPr>
        <p:spPr>
          <a:xfrm>
            <a:off x="457200" y="2176272"/>
            <a:ext cx="868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5"/>
          <p:cNvSpPr txBox="1"/>
          <p:nvPr/>
        </p:nvSpPr>
        <p:spPr>
          <a:xfrm>
            <a:off x="457200" y="3547872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5"/>
          <p:cNvSpPr/>
          <p:nvPr/>
        </p:nvSpPr>
        <p:spPr>
          <a:xfrm>
            <a:off x="1325880" y="1261872"/>
            <a:ext cx="5029200" cy="6858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Web app</a:t>
            </a:r>
            <a:r>
              <a:rPr b="0" i="0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Next.js 16 + React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Screens for each role: members, policy, work list, review panel, dispute desk, releases. Holds no rules; shows only what the API allows.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5"/>
          <p:cNvSpPr/>
          <p:nvPr/>
        </p:nvSpPr>
        <p:spPr>
          <a:xfrm>
            <a:off x="1947672" y="1965960"/>
            <a:ext cx="274320" cy="19202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5"/>
          <p:cNvSpPr/>
          <p:nvPr/>
        </p:nvSpPr>
        <p:spPr>
          <a:xfrm>
            <a:off x="1325880" y="2176272"/>
            <a:ext cx="1463040" cy="109728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FastAPI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Checks the role's capability on every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5"/>
          <p:cNvSpPr/>
          <p:nvPr/>
        </p:nvSpPr>
        <p:spPr>
          <a:xfrm>
            <a:off x="2866644" y="2615184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5"/>
          <p:cNvSpPr/>
          <p:nvPr/>
        </p:nvSpPr>
        <p:spPr>
          <a:xfrm>
            <a:off x="3086100" y="2176272"/>
            <a:ext cx="1463040" cy="109728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SQLAlchemy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Queues, review, disputes, release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5"/>
          <p:cNvSpPr/>
          <p:nvPr/>
        </p:nvSpPr>
        <p:spPr>
          <a:xfrm>
            <a:off x="4626864" y="2615184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5"/>
          <p:cNvSpPr/>
          <p:nvPr/>
        </p:nvSpPr>
        <p:spPr>
          <a:xfrm>
            <a:off x="4846320" y="2176272"/>
            <a:ext cx="1463040" cy="109728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worker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separate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Runs AI batches outside DB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5"/>
          <p:cNvSpPr/>
          <p:nvPr/>
        </p:nvSpPr>
        <p:spPr>
          <a:xfrm>
            <a:off x="3685032" y="3300984"/>
            <a:ext cx="274320" cy="21945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5"/>
          <p:cNvSpPr/>
          <p:nvPr/>
        </p:nvSpPr>
        <p:spPr>
          <a:xfrm>
            <a:off x="1325880" y="3547872"/>
            <a:ext cx="5029200" cy="86868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PostgreSQL 18</a:t>
            </a:r>
            <a:r>
              <a:rPr b="0" i="0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SQLite kept for fast local development; CI tests both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answer is kept as its own version; provenance events are locked by a database trigger, so history can be added to but never rewritten.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5"/>
          <p:cNvSpPr/>
          <p:nvPr/>
        </p:nvSpPr>
        <p:spPr>
          <a:xfrm>
            <a:off x="6629400" y="1261872"/>
            <a:ext cx="2057400" cy="6858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Evaluation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86 cases log in as real roles and call the same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5"/>
          <p:cNvSpPr/>
          <p:nvPr/>
        </p:nvSpPr>
        <p:spPr>
          <a:xfrm>
            <a:off x="6629400" y="2176272"/>
            <a:ext cx="2057400" cy="109728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LLM 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OpenAI, Qwen, DeepSeek, Doubao, Groq, or local Ollama, through one typed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5"/>
          <p:cNvSpPr/>
          <p:nvPr/>
        </p:nvSpPr>
        <p:spPr>
          <a:xfrm>
            <a:off x="6629400" y="3547872"/>
            <a:ext cx="2057400" cy="86868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Client dataset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Referenced by pointer and hash; never copied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5"/>
          <p:cNvSpPr/>
          <p:nvPr/>
        </p:nvSpPr>
        <p:spPr>
          <a:xfrm>
            <a:off x="6373368" y="2615184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5"/>
          <p:cNvSpPr/>
          <p:nvPr/>
        </p:nvSpPr>
        <p:spPr>
          <a:xfrm>
            <a:off x="6373368" y="3877056"/>
            <a:ext cx="237744" cy="20116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End-to-end workflow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Eight steps; each is recorded with who acted, when, and under which guideline</a:t>
            </a:r>
            <a:endParaRPr/>
          </a:p>
        </p:txBody>
      </p:sp>
      <p:sp>
        <p:nvSpPr>
          <p:cNvPr id="261" name="Google Shape;261;p46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6"/>
          <p:cNvSpPr txBox="1"/>
          <p:nvPr/>
        </p:nvSpPr>
        <p:spPr>
          <a:xfrm>
            <a:off x="868680" y="11887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6"/>
          <p:cNvSpPr txBox="1"/>
          <p:nvPr/>
        </p:nvSpPr>
        <p:spPr>
          <a:xfrm>
            <a:off x="2468880" y="118872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6"/>
          <p:cNvSpPr txBox="1"/>
          <p:nvPr/>
        </p:nvSpPr>
        <p:spPr>
          <a:xfrm>
            <a:off x="3657600" y="1188720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HAPPENS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6"/>
          <p:cNvSpPr txBox="1"/>
          <p:nvPr/>
        </p:nvSpPr>
        <p:spPr>
          <a:xfrm>
            <a:off x="6812280" y="1188720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PASSES ON WHEN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46"/>
          <p:cNvCxnSpPr/>
          <p:nvPr/>
        </p:nvCxnSpPr>
        <p:spPr>
          <a:xfrm>
            <a:off x="612648" y="1554480"/>
            <a:ext cx="0" cy="2784348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7" name="Google Shape;267;p46"/>
          <p:cNvSpPr/>
          <p:nvPr/>
        </p:nvSpPr>
        <p:spPr>
          <a:xfrm>
            <a:off x="822960" y="1371600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6"/>
          <p:cNvSpPr/>
          <p:nvPr/>
        </p:nvSpPr>
        <p:spPr>
          <a:xfrm>
            <a:off x="457200" y="1403604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6"/>
          <p:cNvSpPr txBox="1"/>
          <p:nvPr/>
        </p:nvSpPr>
        <p:spPr>
          <a:xfrm>
            <a:off x="896112" y="1371600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Set up organisation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6"/>
          <p:cNvSpPr txBox="1"/>
          <p:nvPr/>
        </p:nvSpPr>
        <p:spPr>
          <a:xfrm>
            <a:off x="2468880" y="1371600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Administrator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6"/>
          <p:cNvSpPr txBox="1"/>
          <p:nvPr/>
        </p:nvSpPr>
        <p:spPr>
          <a:xfrm>
            <a:off x="3657600" y="1371600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Invites members; every invitation carries its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6"/>
          <p:cNvSpPr txBox="1"/>
          <p:nvPr/>
        </p:nvSpPr>
        <p:spPr>
          <a:xfrm>
            <a:off x="6812280" y="1371600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Invitee accepts and gets exactly those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6"/>
          <p:cNvSpPr/>
          <p:nvPr/>
        </p:nvSpPr>
        <p:spPr>
          <a:xfrm>
            <a:off x="822960" y="1769364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6"/>
          <p:cNvSpPr/>
          <p:nvPr/>
        </p:nvSpPr>
        <p:spPr>
          <a:xfrm>
            <a:off x="457200" y="1801368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6"/>
          <p:cNvSpPr txBox="1"/>
          <p:nvPr/>
        </p:nvSpPr>
        <p:spPr>
          <a:xfrm>
            <a:off x="896112" y="1769364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Configure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6"/>
          <p:cNvSpPr txBox="1"/>
          <p:nvPr/>
        </p:nvSpPr>
        <p:spPr>
          <a:xfrm>
            <a:off x="2468880" y="1769364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6"/>
          <p:cNvSpPr txBox="1"/>
          <p:nvPr/>
        </p:nvSpPr>
        <p:spPr>
          <a:xfrm>
            <a:off x="3657600" y="1769364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Sets the review policy: approvals, cross-review sample, governance posture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6"/>
          <p:cNvSpPr txBox="1"/>
          <p:nvPr/>
        </p:nvSpPr>
        <p:spPr>
          <a:xfrm>
            <a:off x="6812280" y="1769364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Policy saved as a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6"/>
          <p:cNvSpPr/>
          <p:nvPr/>
        </p:nvSpPr>
        <p:spPr>
          <a:xfrm>
            <a:off x="822960" y="2167128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6"/>
          <p:cNvSpPr/>
          <p:nvPr/>
        </p:nvSpPr>
        <p:spPr>
          <a:xfrm>
            <a:off x="457200" y="2199132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 txBox="1"/>
          <p:nvPr/>
        </p:nvSpPr>
        <p:spPr>
          <a:xfrm>
            <a:off x="896112" y="2167128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Create task, 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 txBox="1"/>
          <p:nvPr/>
        </p:nvSpPr>
        <p:spPr>
          <a:xfrm>
            <a:off x="2468880" y="2167128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6"/>
          <p:cNvSpPr txBox="1"/>
          <p:nvPr/>
        </p:nvSpPr>
        <p:spPr>
          <a:xfrm>
            <a:off x="3657600" y="2167128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Chooses labels and editor, imports JSONL; gold labels stay hidden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6"/>
          <p:cNvSpPr txBox="1"/>
          <p:nvPr/>
        </p:nvSpPr>
        <p:spPr>
          <a:xfrm>
            <a:off x="6812280" y="2167128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activated; items enter queues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6"/>
          <p:cNvSpPr/>
          <p:nvPr/>
        </p:nvSpPr>
        <p:spPr>
          <a:xfrm>
            <a:off x="822960" y="2564891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6"/>
          <p:cNvSpPr/>
          <p:nvPr/>
        </p:nvSpPr>
        <p:spPr>
          <a:xfrm>
            <a:off x="457200" y="2596896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6"/>
          <p:cNvSpPr txBox="1"/>
          <p:nvPr/>
        </p:nvSpPr>
        <p:spPr>
          <a:xfrm>
            <a:off x="896112" y="2564891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first pass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6"/>
          <p:cNvSpPr txBox="1"/>
          <p:nvPr/>
        </p:nvSpPr>
        <p:spPr>
          <a:xfrm>
            <a:off x="2468880" y="2564891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worker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6"/>
          <p:cNvSpPr txBox="1"/>
          <p:nvPr/>
        </p:nvSpPr>
        <p:spPr>
          <a:xfrm>
            <a:off x="3657600" y="2564891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 AI-assisted tasks the model suggests a label and confidence, or records a 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6"/>
          <p:cNvSpPr txBox="1"/>
          <p:nvPr/>
        </p:nvSpPr>
        <p:spPr>
          <a:xfrm>
            <a:off x="6812280" y="2564891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Suggestion goes to review, marked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6"/>
          <p:cNvSpPr/>
          <p:nvPr/>
        </p:nvSpPr>
        <p:spPr>
          <a:xfrm>
            <a:off x="822960" y="2962656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6"/>
          <p:cNvSpPr/>
          <p:nvPr/>
        </p:nvSpPr>
        <p:spPr>
          <a:xfrm>
            <a:off x="457200" y="2994660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6"/>
          <p:cNvSpPr txBox="1"/>
          <p:nvPr/>
        </p:nvSpPr>
        <p:spPr>
          <a:xfrm>
            <a:off x="896112" y="2962656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6"/>
          <p:cNvSpPr txBox="1"/>
          <p:nvPr/>
        </p:nvSpPr>
        <p:spPr>
          <a:xfrm>
            <a:off x="2468880" y="2962656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657600" y="2962656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Take items from role-checked queues; can't see colleagues' answers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812280" y="2962656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required submissions are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6"/>
          <p:cNvSpPr/>
          <p:nvPr/>
        </p:nvSpPr>
        <p:spPr>
          <a:xfrm>
            <a:off x="822960" y="3360420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6"/>
          <p:cNvSpPr/>
          <p:nvPr/>
        </p:nvSpPr>
        <p:spPr>
          <a:xfrm>
            <a:off x="457200" y="3392424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6"/>
          <p:cNvSpPr txBox="1"/>
          <p:nvPr/>
        </p:nvSpPr>
        <p:spPr>
          <a:xfrm>
            <a:off x="896112" y="3360420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6"/>
          <p:cNvSpPr txBox="1"/>
          <p:nvPr/>
        </p:nvSpPr>
        <p:spPr>
          <a:xfrm>
            <a:off x="2468880" y="3360420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6"/>
          <p:cNvSpPr txBox="1"/>
          <p:nvPr/>
        </p:nvSpPr>
        <p:spPr>
          <a:xfrm>
            <a:off x="3657600" y="3360420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Accepts, adjusts, rejects or escalates one named submission, always with a reason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6"/>
          <p:cNvSpPr txBox="1"/>
          <p:nvPr/>
        </p:nvSpPr>
        <p:spPr>
          <a:xfrm>
            <a:off x="6812280" y="3360420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Approved → final; disagreement → dispute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6"/>
          <p:cNvSpPr/>
          <p:nvPr/>
        </p:nvSpPr>
        <p:spPr>
          <a:xfrm>
            <a:off x="822960" y="3758183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6"/>
          <p:cNvSpPr/>
          <p:nvPr/>
        </p:nvSpPr>
        <p:spPr>
          <a:xfrm>
            <a:off x="457200" y="3790187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6"/>
          <p:cNvSpPr txBox="1"/>
          <p:nvPr/>
        </p:nvSpPr>
        <p:spPr>
          <a:xfrm>
            <a:off x="896112" y="3758183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6"/>
          <p:cNvSpPr txBox="1"/>
          <p:nvPr/>
        </p:nvSpPr>
        <p:spPr>
          <a:xfrm>
            <a:off x="2468880" y="3758183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6"/>
          <p:cNvSpPr txBox="1"/>
          <p:nvPr/>
        </p:nvSpPr>
        <p:spPr>
          <a:xfrm>
            <a:off x="3657600" y="3758183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 expert who never touched the item rules: accept, return or reject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6"/>
          <p:cNvSpPr txBox="1"/>
          <p:nvPr/>
        </p:nvSpPr>
        <p:spPr>
          <a:xfrm>
            <a:off x="6812280" y="3758183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Item finalised and locked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6"/>
          <p:cNvSpPr/>
          <p:nvPr/>
        </p:nvSpPr>
        <p:spPr>
          <a:xfrm>
            <a:off x="822960" y="4155948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6"/>
          <p:cNvSpPr/>
          <p:nvPr/>
        </p:nvSpPr>
        <p:spPr>
          <a:xfrm>
            <a:off x="457200" y="4187952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6"/>
          <p:cNvSpPr txBox="1"/>
          <p:nvPr/>
        </p:nvSpPr>
        <p:spPr>
          <a:xfrm>
            <a:off x="896112" y="4155948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2468880" y="4155948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6"/>
          <p:cNvSpPr txBox="1"/>
          <p:nvPr/>
        </p:nvSpPr>
        <p:spPr>
          <a:xfrm>
            <a:off x="3657600" y="4155948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gate checks every item's history, then builds an immutable release and 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6812280" y="4155948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Anyone can verify it from the 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assistance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suggests, people decide, and a failure is never disguised as an answer</a:t>
            </a:r>
            <a:endParaRPr/>
          </a:p>
        </p:txBody>
      </p:sp>
      <p:sp>
        <p:nvSpPr>
          <p:cNvPr id="320" name="Google Shape;320;p47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7"/>
          <p:cNvSpPr txBox="1"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interface, six 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Swapping the model never touches the workflow; a mock stands in for tests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AI is one more author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Its answer is reviewed like anyone's, never treated as ground truth </a:t>
            </a:r>
            <a:r>
              <a:rPr b="0" i="1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(Felkner et al., 2024)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Failures are recorded as failures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inherited code saved failed calls as fake annotations; transient errors now retry, permanent ones are set aside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Measuring the AI's influence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Blind-then-reveal: the annotator answers first, then sees the suggestion and may revise </a:t>
            </a:r>
            <a:r>
              <a:rPr b="0" i="1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(Parasuraman &amp; Manzey, 2010; Schroeder et al., 2025)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7"/>
          <p:cNvSpPr/>
          <p:nvPr/>
        </p:nvSpPr>
        <p:spPr>
          <a:xfrm>
            <a:off x="5394960" y="1280160"/>
            <a:ext cx="3291840" cy="84124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OpenAI · Qwen · DeepSeek · Doubao · Groq · Ollama (local)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7"/>
          <p:cNvSpPr/>
          <p:nvPr/>
        </p:nvSpPr>
        <p:spPr>
          <a:xfrm>
            <a:off x="6903720" y="2139696"/>
            <a:ext cx="274320" cy="2377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7"/>
          <p:cNvSpPr/>
          <p:nvPr/>
        </p:nvSpPr>
        <p:spPr>
          <a:xfrm>
            <a:off x="5394960" y="2395728"/>
            <a:ext cx="3291840" cy="84124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typed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Records provider and model on every answer; batch jobs run in the AI worker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7"/>
          <p:cNvSpPr/>
          <p:nvPr/>
        </p:nvSpPr>
        <p:spPr>
          <a:xfrm>
            <a:off x="6903720" y="3255263"/>
            <a:ext cx="274320" cy="2377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7"/>
          <p:cNvSpPr/>
          <p:nvPr/>
        </p:nvSpPr>
        <p:spPr>
          <a:xfrm>
            <a:off x="5394960" y="3511296"/>
            <a:ext cx="3291840" cy="841248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suggestion with its confidence, or an explicit AI 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 and adjudication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one judges their own work, and each project picks its level of assurance</a:t>
            </a:r>
            <a:endParaRPr/>
          </a:p>
        </p:txBody>
      </p:sp>
      <p:sp>
        <p:nvSpPr>
          <p:cNvPr id="332" name="Google Shape;332;p48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457200" y="126187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Independence rules, enforced on the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8"/>
          <p:cNvSpPr/>
          <p:nvPr/>
        </p:nvSpPr>
        <p:spPr>
          <a:xfrm>
            <a:off x="457200" y="1600200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one reviews or adjudicates their own work (separation of duty; Sandhu et al., 1996)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8"/>
          <p:cNvSpPr/>
          <p:nvPr/>
        </p:nvSpPr>
        <p:spPr>
          <a:xfrm>
            <a:off x="457200" y="2313432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second review never returns to the first reviewer, and is blind to the first 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8"/>
          <p:cNvSpPr/>
          <p:nvPr/>
        </p:nvSpPr>
        <p:spPr>
          <a:xfrm>
            <a:off x="457200" y="3026664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reviewer's correction is a proposal, not the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8"/>
          <p:cNvSpPr/>
          <p:nvPr/>
        </p:nvSpPr>
        <p:spPr>
          <a:xfrm>
            <a:off x="457200" y="3739896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 expert's ruling is final: accept, return or reject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4937760" y="1261872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Governance posture, chosen per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8"/>
          <p:cNvSpPr/>
          <p:nvPr/>
        </p:nvSpPr>
        <p:spPr>
          <a:xfrm>
            <a:off x="4937760" y="1600200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Standard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approval; 10% sampled for cross-review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8"/>
          <p:cNvSpPr/>
          <p:nvPr/>
        </p:nvSpPr>
        <p:spPr>
          <a:xfrm>
            <a:off x="4937760" y="2313432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Dual sign-off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Two independent approvals on every item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8"/>
          <p:cNvSpPr/>
          <p:nvPr/>
        </p:nvSpPr>
        <p:spPr>
          <a:xfrm>
            <a:off x="4937760" y="3026664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Arbitration-ready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dispute closes only by an independent 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8"/>
          <p:cNvSpPr/>
          <p:nvPr/>
        </p:nvSpPr>
        <p:spPr>
          <a:xfrm>
            <a:off x="4937760" y="3739896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Expert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 expert confirms every item before it is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Provenance and release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release is refused unless every item's history is complete</a:t>
            </a:r>
            <a:endParaRPr/>
          </a:p>
        </p:txBody>
      </p:sp>
      <p:sp>
        <p:nvSpPr>
          <p:cNvPr id="348" name="Google Shape;348;p49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9"/>
          <p:cNvSpPr/>
          <p:nvPr/>
        </p:nvSpPr>
        <p:spPr>
          <a:xfrm>
            <a:off x="457200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Recorded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write is a version, with actor, time and guideline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9"/>
          <p:cNvSpPr/>
          <p:nvPr/>
        </p:nvSpPr>
        <p:spPr>
          <a:xfrm>
            <a:off x="2322576" y="182880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9"/>
          <p:cNvSpPr/>
          <p:nvPr/>
        </p:nvSpPr>
        <p:spPr>
          <a:xfrm>
            <a:off x="2587752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Release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Refuses unreviewed items, incomplete history or superseded versions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9"/>
          <p:cNvSpPr/>
          <p:nvPr/>
        </p:nvSpPr>
        <p:spPr>
          <a:xfrm>
            <a:off x="4453128" y="182880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9"/>
          <p:cNvSpPr/>
          <p:nvPr/>
        </p:nvSpPr>
        <p:spPr>
          <a:xfrm>
            <a:off x="4718304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Immutable 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frozen snapshot of one authoritative answer per item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9"/>
          <p:cNvSpPr/>
          <p:nvPr/>
        </p:nvSpPr>
        <p:spPr>
          <a:xfrm>
            <a:off x="6583680" y="182880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9"/>
          <p:cNvSpPr/>
          <p:nvPr/>
        </p:nvSpPr>
        <p:spPr>
          <a:xfrm>
            <a:off x="6848856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Lets anyone rebuild and check the release independently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9"/>
          <p:cNvSpPr txBox="1"/>
          <p:nvPr/>
        </p:nvSpPr>
        <p:spPr>
          <a:xfrm>
            <a:off x="457200" y="2880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every released item's history holds</a:t>
            </a:r>
            <a:r>
              <a:rPr b="0" i="1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entities, activities and agents, after PROV-DM (Moreau &amp; Missier, 2013)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9"/>
          <p:cNvSpPr/>
          <p:nvPr/>
        </p:nvSpPr>
        <p:spPr>
          <a:xfrm>
            <a:off x="457200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and hash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9"/>
          <p:cNvSpPr/>
          <p:nvPr/>
        </p:nvSpPr>
        <p:spPr>
          <a:xfrm>
            <a:off x="1847088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Guideline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/>
          <p:nvPr/>
        </p:nvSpPr>
        <p:spPr>
          <a:xfrm>
            <a:off x="3236976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/>
          <p:nvPr/>
        </p:nvSpPr>
        <p:spPr>
          <a:xfrm>
            <a:off x="4626864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Human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9"/>
          <p:cNvSpPr/>
          <p:nvPr/>
        </p:nvSpPr>
        <p:spPr>
          <a:xfrm>
            <a:off x="6016752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9"/>
          <p:cNvSpPr/>
          <p:nvPr/>
        </p:nvSpPr>
        <p:spPr>
          <a:xfrm>
            <a:off x="7406640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9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gate reads what was recorded. </a:t>
            </a:r>
            <a:r>
              <a:rPr b="0" i="0" lang="en" sz="12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 can never be satisfied by someone asserting that review happened.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Evaluation casebook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85 of 86 end-to-end cases pass through the real API, with none failing</a:t>
            </a:r>
            <a:endParaRPr/>
          </a:p>
        </p:txBody>
      </p:sp>
      <p:sp>
        <p:nvSpPr>
          <p:cNvPr id="369" name="Google Shape;369;p50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·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0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cases in the casebook, each run through the real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0"/>
          <p:cNvSpPr/>
          <p:nvPr/>
        </p:nvSpPr>
        <p:spPr>
          <a:xfrm>
            <a:off x="2560320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pass on main; one skipped, none failing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0"/>
          <p:cNvSpPr/>
          <p:nvPr/>
        </p:nvSpPr>
        <p:spPr>
          <a:xfrm>
            <a:off x="4663440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adversarial categories with a running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0"/>
          <p:cNvSpPr/>
          <p:nvPr/>
        </p:nvSpPr>
        <p:spPr>
          <a:xfrm>
            <a:off x="6766559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30/30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inherited defects closed, including all 6 critical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0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a case looks like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scripted reviewer tries to approve their own annotation. The API must refuse it, and the provenance record must be unchanged. If it doesn't, the case fails.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0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Repeatable by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case builds a fresh database and a scripted AI, so every run is compared with a committed baseline.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" sz="11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Not yet covered: a changed source file (EV-018), written but skipped until source versioning exists.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Full workflow on real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AG News item, traced from its raw record to its authoritative answer</a:t>
            </a:r>
            <a:endParaRPr/>
          </a:p>
        </p:txBody>
      </p:sp>
      <p:sp>
        <p:nvSpPr>
          <p:cNvPr id="381" name="Google Shape;381;p51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·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1"/>
          <p:cNvSpPr/>
          <p:nvPr/>
        </p:nvSpPr>
        <p:spPr>
          <a:xfrm>
            <a:off x="457200" y="1261872"/>
            <a:ext cx="3017520" cy="2395728"/>
          </a:xfrm>
          <a:prstGeom prst="roundRect">
            <a:avLst>
              <a:gd fmla="val 8000" name="adj"/>
            </a:avLst>
          </a:prstGeom>
          <a:solidFill>
            <a:srgbClr val="FFF4E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In: raw 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 supplied by the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"external_item_ref":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"ag_news:train:0000",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"payload_preview": {"text":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"Wall St. Bears Claw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 Into the Black (Reuters)…"},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"gold_annotations":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  [{"label": "Business"}]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Gold label hidden from the AI and reviewer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1"/>
          <p:cNvSpPr/>
          <p:nvPr/>
        </p:nvSpPr>
        <p:spPr>
          <a:xfrm>
            <a:off x="3566160" y="2286000"/>
            <a:ext cx="292608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1"/>
          <p:cNvSpPr/>
          <p:nvPr/>
        </p:nvSpPr>
        <p:spPr>
          <a:xfrm>
            <a:off x="3950208" y="1261872"/>
            <a:ext cx="4736592" cy="2395728"/>
          </a:xfrm>
          <a:prstGeom prst="roundRect">
            <a:avLst>
              <a:gd fmla="val 8000" name="adj"/>
            </a:avLst>
          </a:prstGeom>
          <a:solidFill>
            <a:srgbClr val="FFF4E5"/>
          </a:solidFill>
          <a:ln cap="flat" cmpd="sng" w="15875">
            <a:solidFill>
              <a:srgbClr val="EF8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Out: the item's recorded history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export (normalized JSON), 22 Oct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and hash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sha256 44d6f516… · record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Guideline version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v1 · policy v1 (standard)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deepseek-flash → Business, 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“Reuters report about short-sellers…”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Human response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accepted unchanged (version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Reviews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Alice Chen: accept, “Correct”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Adjudication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none needed: 1 approval met 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Final answer   </a:t>
            </a:r>
            <a:r>
              <a:rPr b="1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Business · authoritative 22 Oct 09:42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1"/>
          <p:cNvSpPr/>
          <p:nvPr/>
        </p:nvSpPr>
        <p:spPr>
          <a:xfrm>
            <a:off x="457200" y="3794760"/>
            <a:ext cx="2651760" cy="65836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[TBD] 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items run end to end on AG News and Civil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1"/>
          <p:cNvSpPr/>
          <p:nvPr/>
        </p:nvSpPr>
        <p:spPr>
          <a:xfrm>
            <a:off x="3246120" y="3794760"/>
            <a:ext cx="2651760" cy="65836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[TBD] 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date the full journey was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1"/>
          <p:cNvSpPr/>
          <p:nvPr/>
        </p:nvSpPr>
        <p:spPr>
          <a:xfrm>
            <a:off x="6035040" y="3794760"/>
            <a:ext cx="2651760" cy="65836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[TBD] 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releases built, each with a 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accuracy against gold labels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Good on news topics, but confidently wrong on toxic comments</a:t>
            </a:r>
            <a:endParaRPr/>
          </a:p>
        </p:txBody>
      </p:sp>
      <p:sp>
        <p:nvSpPr>
          <p:cNvPr id="393" name="Google Shape;393;p52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·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402336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2"/>
          <p:cNvSpPr txBox="1"/>
          <p:nvPr/>
        </p:nvSpPr>
        <p:spPr>
          <a:xfrm>
            <a:off x="457200" y="4041648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Accuracy (%), full recorded runs of 200 records per dataset (ADR 019); DeepSeek Flash answered 199 on Civil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2"/>
          <p:cNvSpPr txBox="1"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Both models miss most toxic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Recall on the toxic class </a:t>
            </a:r>
            <a:r>
              <a:rPr b="1" i="0" lang="en" sz="12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47% and 35%</a:t>
            </a: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yet stated confidence stays high (ECE 0.22 and 0.27)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failure stays a 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malformed reply was counted as an AI failure, not an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ECE </a:t>
            </a:r>
            <a:r>
              <a:rPr b="0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(expected calibration error): the gap between stated confidence and actual accuracy; 0 is perfect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(Guo et al., 2017)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2"/>
          <p:cNvSpPr/>
          <p:nvPr/>
        </p:nvSpPr>
        <p:spPr>
          <a:xfrm>
            <a:off x="4754880" y="3657600"/>
            <a:ext cx="3931920" cy="77724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ctr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 what: </a:t>
            </a:r>
            <a:r>
              <a:rPr b="0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 toxicity, a model's confidence is no reason to skip human review </a:t>
            </a:r>
            <a:r>
              <a:rPr b="0" i="1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(cf. Felkner et al., 2024)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3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Design decisions and trade-offs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choice bought something, and each one cost something</a:t>
            </a:r>
            <a:endParaRPr/>
          </a:p>
        </p:txBody>
      </p:sp>
      <p:sp>
        <p:nvSpPr>
          <p:cNvPr id="403" name="Google Shape;403;p53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 · 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" name="Google Shape;404;p53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{17FADA9F-8511-449D-9E69-E89A8D48F33C}</a:tableStyleId>
              </a:tblPr>
              <a:tblGrid>
                <a:gridCol w="2331725"/>
                <a:gridCol w="3291850"/>
                <a:gridCol w="26060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Decision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Why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Cost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No item assignment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Client decision: work is self-served from role-checked queues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Independence must live in the queue query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PostgreSQL by default, SQLite kept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Concurrency for batch and multi-user work; fast local development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Two databases to test; CI runs both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 correction is a proposal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The annotator's answer and the reviewer's view stay distinct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 expert or the author must adopt it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Admin oversees, does not judge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Separates governance from judgement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More roles to set up per project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Text is the committed demo path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Depth over breadth in the time available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Image, audio and video only kept working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405;p53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Limitations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Human figures come from scripted participants, not a user study · coarse confidence values flatter calibration · source versioning not built (EV-018 skipped)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Outcomes against the brief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released item can now answer “How did this label get here?”</a:t>
            </a:r>
            <a:endParaRPr/>
          </a:p>
        </p:txBody>
      </p:sp>
      <p:sp>
        <p:nvSpPr>
          <p:cNvPr id="411" name="Google Shape;411;p54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·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2" name="Google Shape;412;p54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{17FADA9F-8511-449D-9E69-E89A8D48F33C}</a:tableStyleId>
              </a:tblPr>
              <a:tblGrid>
                <a:gridCol w="3749050"/>
                <a:gridCol w="1097275"/>
                <a:gridCol w="3383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Expected outcome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Status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Evidence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Full journey runs on realistic data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[TBD]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End-to-end provenance for every released item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[TBD]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Immutable releases with manifests, gated before they exist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[TBD]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AI behind a typed interface; failure never disguised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[TBD]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Evaluation harness and a 40–60 case casebook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Exceeded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86 cases, 85 pass, none failing (22 Oct)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Every critical defect closed or argued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30/30 defects closed, all 6 critical (22 Oct)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p54"/>
          <p:cNvSpPr/>
          <p:nvPr/>
        </p:nvSpPr>
        <p:spPr>
          <a:xfrm>
            <a:off x="457200" y="3657600"/>
            <a:ext cx="4023360" cy="804672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Q1  </a:t>
            </a:r>
            <a:r>
              <a:rPr b="1" i="0" lang="en" sz="11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Integrate human-AI annotation transparently?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Treat the AI as one more author: record its suggestion, review it like anyone's, and enforce every rule on the server.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4"/>
          <p:cNvSpPr/>
          <p:nvPr/>
        </p:nvSpPr>
        <p:spPr>
          <a:xfrm>
            <a:off x="4663440" y="3657600"/>
            <a:ext cx="4023360" cy="804672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Q2  </a:t>
            </a:r>
            <a:r>
              <a:rPr b="1" i="0" lang="en" sz="11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Ensure quality, integrity and reproducibility?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Gate each release on the recorded history, and re-test the whole workflow with a repeatable casebook.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5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Reflection and next steps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worked, what we would change, and what comes next</a:t>
            </a:r>
            <a:endParaRPr/>
          </a:p>
        </p:txBody>
      </p:sp>
      <p:sp>
        <p:nvSpPr>
          <p:cNvPr id="420" name="Google Shape;420;p55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·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5"/>
          <p:cNvSpPr/>
          <p:nvPr/>
        </p:nvSpPr>
        <p:spPr>
          <a:xfrm>
            <a:off x="457200" y="1280160"/>
            <a:ext cx="2651760" cy="27432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Weekly sprints, one definition of done (Schwaber &amp; Sutherland, 2020)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spec per story (Cohn, 2004); 22 decision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Independent review on every pull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casebook as a regression 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5"/>
          <p:cNvSpPr/>
          <p:nvPr/>
        </p:nvSpPr>
        <p:spPr>
          <a:xfrm>
            <a:off x="3246120" y="1280160"/>
            <a:ext cx="2651760" cy="27432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we would 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Records drifted ahead of the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Parallel branches changed the same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[TBD: one lesson per member]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5"/>
          <p:cNvSpPr/>
          <p:nvPr/>
        </p:nvSpPr>
        <p:spPr>
          <a:xfrm>
            <a:off x="6035040" y="1280160"/>
            <a:ext cx="2651760" cy="274320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Extend the workflow to image, audio and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versioning, which unblocks EV-018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study with real annotators of how AI sways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5"/>
          <p:cNvSpPr txBox="1"/>
          <p:nvPr/>
        </p:nvSpPr>
        <p:spPr>
          <a:xfrm>
            <a:off x="457200" y="409651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Thank you to Hunter Xu and Arc Intelligence.  </a:t>
            </a: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>
            <p:ph type="title"/>
          </p:nvPr>
        </p:nvSpPr>
        <p:spPr>
          <a:xfrm>
            <a:off x="381884" y="1348200"/>
            <a:ext cx="3948874" cy="1224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Appendix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7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References</a:t>
            </a:r>
            <a:endParaRPr/>
          </a:p>
        </p:txBody>
      </p:sp>
      <p:sp>
        <p:nvSpPr>
          <p:cNvPr id="437" name="Google Shape;437;p57"/>
          <p:cNvSpPr txBox="1"/>
          <p:nvPr>
            <p:ph idx="1" type="body"/>
          </p:nvPr>
        </p:nvSpPr>
        <p:spPr>
          <a:xfrm>
            <a:off x="457200" y="914400"/>
            <a:ext cx="822960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Artstein, R., &amp; Poesio, M. (2008). Inter-coder agreement for computational linguistics. Computational Linguistics, 34(4), 555–596.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Borkan, D., Dixon, L., Sorensen, J., Thain, N., &amp; Vasserman, L. (2019). Nuanced metrics for measuring unintended bias with real data for text classification. Companion Proceedings of WWW 2019, 491–500.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Cohn, M. (2004). User stories applied: For agile software development. Addison-Wesley.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Feathers, M. C. (2004). Working effectively with legacy code. Prentice Hall.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Felkner, V. K., Thompson, J. A., &amp; May, J. (2024). GPT is not an annotator: The necessity of human annotation in fairness benchmark construction. Proceedings of ACL 2024, 14104–14115.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Gebru, T., et al. (2021). Datasheets for datasets. Communications of the ACM, 64(12), 86–92.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Guo, C., Pleiss, G., Sun, Y., &amp; Weinberger, K. Q. (2017). On calibration of modern neural networks. Proceedings of ICML 2017, PMLR 70, 1321–1330.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Klie, J.-C., Eckart de Castilho, R., &amp; Gurevych, I. (2024). Analyzing dataset annotation quality management in the wild. Computational Linguistics, 50(3), 817–866.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Kruchten, P., Nord, R. L., &amp; Ozkaya, I. (2012). Technical debt: From metaphor to theory and practice. IEEE Software, 29(6), 18–21.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Lek, T., de Groot, A., Kuhn, T., &amp; Morante, R. (2020). Provenance for linguistic corpora through nanopublications. Proceedings of the 14th Linguistic Annotation Workshop, 13–23.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Moreau, L., &amp; Missier, P. (Eds.). (2013). PROV-DM: The PROV data model. W3C Recommendation.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Parasuraman, R., &amp; Manzey, D. H. (2010). Complacency and bias in human use of automation: An attentional integration. Human Factors, 52(3), 381–410.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Plank, B. (2022). The “problem” of human label variation. Proceedings of EMNLP 2022, 10671–10682.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Sambasivan, N., et al. (2021). “Everyone wants to do the model work, not the data work”: Data cascades in high-stakes AI. Proceedings of CHI 2021, 1–15.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Sandhu, R. S., Coyne, E. J., Feinstein, H. L., &amp; Youman, C. E. (1996). Role-based access control models. Computer, 29(2), 38–47.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Schroeder, H., Roy, D., &amp; Kabbara, J. (2025). Just put a human in the loop? Investigating LLM-assisted annotation for subjective tasks. Findings of ACL 2025, 25771–25795.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Schwaber, K., &amp; Sutherland, J. (2020). The Scrum guide. https://scrumguides.org/scrum-guide.html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Snow, R., O'Connor, B., Jurafsky, D., &amp; Ng, A. Y. (2008). Cheap and fast—but is it good? Proceedings of EMNLP 2008, 254–263.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15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Zhang, X., Zhao, J., &amp; LeCun, Y. (2015). Character-level convolutional networks for text classification. Advances in NeurIPS 28, 649–657.</a:t>
            </a:r>
            <a:endParaRPr/>
          </a:p>
        </p:txBody>
      </p:sp>
      <p:sp>
        <p:nvSpPr>
          <p:cNvPr id="438" name="Google Shape;438;p57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457200" y="8731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Architecture decision records</a:t>
            </a:r>
            <a:endParaRPr/>
          </a:p>
        </p:txBody>
      </p:sp>
      <p:sp>
        <p:nvSpPr>
          <p:cNvPr id="445" name="Google Shape;445;p58"/>
          <p:cNvSpPr txBox="1"/>
          <p:nvPr>
            <p:ph idx="1" type="body"/>
          </p:nvPr>
        </p:nvSpPr>
        <p:spPr>
          <a:xfrm>
            <a:off x="457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001 Explicit governance posture fields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002 Policy layer precedence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003 Review justification always required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004 Task-level annotation surfaces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005 Record-based text intake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006 Evaluation harness drives the API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007 Review decisions follow the queue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008 Reopening supersedes the round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009 Every write is a 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010 Independent second review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011 Adjudication independence</a:t>
            </a:r>
            <a:endParaRPr/>
          </a:p>
        </p:txBody>
      </p:sp>
      <p:sp>
        <p:nvSpPr>
          <p:cNvPr id="446" name="Google Shape;446;p58"/>
          <p:cNvSpPr txBox="1"/>
          <p:nvPr>
            <p:ph idx="2" type="body"/>
          </p:nvPr>
        </p:nvSpPr>
        <p:spPr>
          <a:xfrm>
            <a:off x="4648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012 A reviewer correction is a proposal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013 Annotation-level disputes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014 Review and submission state history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015 Production history at decision time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016 Blind-then-reveal is an evaluation protocol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017 Expert Gate reuses item reconciliation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018 Guidelines and policies are versioned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019 Agreement coefficients and a recorded model run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020 The release gate reads recorded decisions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021 A manifest lets anyone check the release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022 A held disagreement may be settled</a:t>
            </a:r>
            <a:endParaRPr/>
          </a:p>
        </p:txBody>
      </p:sp>
      <p:sp>
        <p:nvSpPr>
          <p:cNvPr id="447" name="Google Shape;447;p58"/>
          <p:cNvSpPr txBox="1"/>
          <p:nvPr/>
        </p:nvSpPr>
        <p:spPr>
          <a:xfrm>
            <a:off x="2560320" y="4764024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Q&amp;A backup</a:t>
            </a:r>
            <a:endParaRPr/>
          </a:p>
        </p:txBody>
      </p:sp>
      <p:sp>
        <p:nvSpPr>
          <p:cNvPr id="454" name="Google Shape;454;p59"/>
          <p:cNvSpPr txBox="1"/>
          <p:nvPr>
            <p:ph idx="1" type="body"/>
          </p:nvPr>
        </p:nvSpPr>
        <p:spPr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 sz="1600"/>
              <a:t>[TBD] Backup material: defect register status, permission model, casebook coverage</a:t>
            </a:r>
            <a:endParaRPr/>
          </a:p>
        </p:txBody>
      </p:sp>
      <p:sp>
        <p:nvSpPr>
          <p:cNvPr id="455" name="Google Shape;455;p59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PT-template-widescreen_August15">
  <a:themeElements>
    <a:clrScheme name="The University of Sydney_Color Theme">
      <a:dk1>
        <a:srgbClr val="000000"/>
      </a:dk1>
      <a:lt1>
        <a:srgbClr val="FFFFFF"/>
      </a:lt1>
      <a:dk2>
        <a:srgbClr val="0148A4"/>
      </a:dk2>
      <a:lt2>
        <a:srgbClr val="EEECE1"/>
      </a:lt2>
      <a:accent1>
        <a:srgbClr val="E64626"/>
      </a:accent1>
      <a:accent2>
        <a:srgbClr val="EF8025"/>
      </a:accent2>
      <a:accent3>
        <a:srgbClr val="FFB800"/>
      </a:accent3>
      <a:accent4>
        <a:srgbClr val="5C923E"/>
      </a:accent4>
      <a:accent5>
        <a:srgbClr val="5496DB"/>
      </a:accent5>
      <a:accent6>
        <a:srgbClr val="0148A4"/>
      </a:accent6>
      <a:hlink>
        <a:srgbClr val="E64626"/>
      </a:hlink>
      <a:folHlink>
        <a:srgbClr val="F051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